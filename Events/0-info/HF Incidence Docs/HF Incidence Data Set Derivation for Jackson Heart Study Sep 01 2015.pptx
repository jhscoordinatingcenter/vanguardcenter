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28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92" r:id="rId3"/>
    <p:sldId id="293" r:id="rId4"/>
    <p:sldId id="316" r:id="rId5"/>
    <p:sldId id="317" r:id="rId6"/>
    <p:sldId id="294" r:id="rId7"/>
    <p:sldId id="295" r:id="rId8"/>
    <p:sldId id="296" r:id="rId9"/>
    <p:sldId id="297" r:id="rId10"/>
    <p:sldId id="307" r:id="rId11"/>
    <p:sldId id="309" r:id="rId12"/>
    <p:sldId id="320" r:id="rId13"/>
    <p:sldId id="299" r:id="rId14"/>
    <p:sldId id="300" r:id="rId15"/>
    <p:sldId id="301" r:id="rId16"/>
    <p:sldId id="302" r:id="rId17"/>
    <p:sldId id="322" r:id="rId18"/>
    <p:sldId id="304" r:id="rId19"/>
    <p:sldId id="305" r:id="rId20"/>
    <p:sldId id="306" r:id="rId21"/>
    <p:sldId id="280" r:id="rId22"/>
    <p:sldId id="287" r:id="rId23"/>
    <p:sldId id="284" r:id="rId24"/>
    <p:sldId id="288" r:id="rId25"/>
    <p:sldId id="290" r:id="rId26"/>
    <p:sldId id="312" r:id="rId27"/>
    <p:sldId id="313" r:id="rId28"/>
    <p:sldId id="31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110" d="100"/>
          <a:sy n="110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9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8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6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9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7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9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DB50A-916D-4EFE-B7A6-4B800A5E3415}" type="datetimeFigureOut">
              <a:rPr lang="en-US" smtClean="0"/>
              <a:t>12/30/2015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73587-845F-4905-9CB2-CA3895194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89916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Heart Failure Hospitalization Incidence Data Set Derivation for Jackson Heart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JHS CCDC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Sep. 01, 2015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44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Heart Failure Hospitalization event </a:t>
            </a:r>
            <a:r>
              <a:rPr lang="en-US" dirty="0"/>
              <a:t>is only adjudicated after 01/01/2005 in Jackson Heart Study, </a:t>
            </a:r>
            <a:r>
              <a:rPr lang="en-US" dirty="0" smtClean="0"/>
              <a:t>and the </a:t>
            </a:r>
            <a:r>
              <a:rPr lang="en-US" dirty="0"/>
              <a:t>purpose of this </a:t>
            </a:r>
            <a:r>
              <a:rPr lang="en-US" dirty="0" smtClean="0"/>
              <a:t>presentation </a:t>
            </a:r>
            <a:r>
              <a:rPr lang="en-US" dirty="0"/>
              <a:t>is to describe the strategy and justification to </a:t>
            </a:r>
            <a:r>
              <a:rPr lang="en-US" dirty="0" smtClean="0"/>
              <a:t>derive </a:t>
            </a:r>
            <a:r>
              <a:rPr lang="en-US" dirty="0"/>
              <a:t>incidence data </a:t>
            </a:r>
            <a:r>
              <a:rPr lang="en-US" dirty="0" smtClean="0"/>
              <a:t>set for Heart Failure Hospitalization.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4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Facts and Strategies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 smtClean="0"/>
              <a:t>Heart Failure Hospitalization event </a:t>
            </a:r>
            <a:r>
              <a:rPr lang="en-US" dirty="0"/>
              <a:t>is adjudicated after 01/01/2005, and our goal is to assess the </a:t>
            </a:r>
            <a:r>
              <a:rPr lang="en-US" dirty="0" smtClean="0"/>
              <a:t>Heart Failure Hospitalization status </a:t>
            </a:r>
            <a:r>
              <a:rPr lang="en-US" dirty="0"/>
              <a:t>on 01/01/2005 to </a:t>
            </a:r>
            <a:r>
              <a:rPr lang="en-US" dirty="0" smtClean="0"/>
              <a:t>derive </a:t>
            </a:r>
            <a:r>
              <a:rPr lang="en-US" dirty="0"/>
              <a:t>the </a:t>
            </a:r>
            <a:r>
              <a:rPr lang="en-US" dirty="0" smtClean="0"/>
              <a:t>Heart Failure Hospitalization Incidence </a:t>
            </a:r>
            <a:r>
              <a:rPr lang="en-US" dirty="0"/>
              <a:t>data set.</a:t>
            </a:r>
          </a:p>
          <a:p>
            <a:pPr lvl="0"/>
            <a:r>
              <a:rPr lang="en-US" dirty="0"/>
              <a:t>We do not have </a:t>
            </a:r>
            <a:r>
              <a:rPr lang="en-US" dirty="0" smtClean="0"/>
              <a:t>direct </a:t>
            </a:r>
            <a:r>
              <a:rPr lang="en-US" dirty="0"/>
              <a:t>question and assessment for </a:t>
            </a:r>
            <a:r>
              <a:rPr lang="en-US" dirty="0" smtClean="0"/>
              <a:t>Heart Failure Hospitalization status on 01/01/2005 or at </a:t>
            </a:r>
            <a:r>
              <a:rPr lang="en-US" dirty="0"/>
              <a:t>Visit 1 </a:t>
            </a:r>
            <a:r>
              <a:rPr lang="en-US" dirty="0" smtClean="0"/>
              <a:t>or Visit 2 Exam for JHS---</a:t>
            </a:r>
            <a:r>
              <a:rPr lang="en-US" i="1" dirty="0" smtClean="0">
                <a:solidFill>
                  <a:srgbClr val="FF0000"/>
                </a:solidFill>
              </a:rPr>
              <a:t>Gothenburg Algorithm may be an alternative solution</a:t>
            </a:r>
            <a:r>
              <a:rPr lang="en-US" dirty="0" smtClean="0"/>
              <a:t>. </a:t>
            </a:r>
            <a:endParaRPr lang="en-US" dirty="0"/>
          </a:p>
          <a:p>
            <a:r>
              <a:rPr lang="en-US" dirty="0"/>
              <a:t>To assess </a:t>
            </a:r>
            <a:r>
              <a:rPr lang="en-US" dirty="0" smtClean="0"/>
              <a:t>Heart Failure Hospitalization status </a:t>
            </a:r>
            <a:r>
              <a:rPr lang="en-US" dirty="0"/>
              <a:t>on 01/01/2005, we should depend on self-reported annual follow up questionnaire data (lack of quality control</a:t>
            </a:r>
            <a:r>
              <a:rPr lang="en-US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9104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 and </a:t>
            </a:r>
            <a:r>
              <a:rPr lang="en-US" dirty="0" smtClean="0"/>
              <a:t>Strategies (</a:t>
            </a:r>
            <a:r>
              <a:rPr lang="en-US" dirty="0"/>
              <a:t>II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addition, we also combined AFU reported </a:t>
            </a:r>
            <a:r>
              <a:rPr lang="en-US" dirty="0"/>
              <a:t>Heart Failure </a:t>
            </a:r>
            <a:r>
              <a:rPr lang="en-US" dirty="0" smtClean="0"/>
              <a:t>Hospitalization events from V1 to 01/01/2005 with adjudicated </a:t>
            </a:r>
            <a:r>
              <a:rPr lang="en-US" dirty="0"/>
              <a:t>Heart Failure </a:t>
            </a:r>
            <a:r>
              <a:rPr lang="en-US" dirty="0" smtClean="0"/>
              <a:t>Hospitalization events from 01/01/2005 to 12/31/2012 to generate second set of incident </a:t>
            </a:r>
            <a:r>
              <a:rPr lang="en-US" dirty="0"/>
              <a:t>Heart Failure </a:t>
            </a:r>
            <a:r>
              <a:rPr lang="en-US" dirty="0" smtClean="0"/>
              <a:t>Hospitalization variables used for sensitivity analysis. </a:t>
            </a:r>
          </a:p>
        </p:txBody>
      </p:sp>
    </p:spTree>
    <p:extLst>
      <p:ext uri="{BB962C8B-B14F-4D97-AF65-F5344CB8AC3E}">
        <p14:creationId xmlns:p14="http://schemas.microsoft.com/office/powerpoint/2010/main" val="107003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 and </a:t>
            </a:r>
            <a:r>
              <a:rPr lang="en-US" dirty="0" smtClean="0"/>
              <a:t>Strategies (</a:t>
            </a:r>
            <a:r>
              <a:rPr lang="en-US" dirty="0"/>
              <a:t>III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The incident HF hospitalization variables used for main analysis:</a:t>
            </a:r>
          </a:p>
          <a:p>
            <a:r>
              <a:rPr lang="en-US" dirty="0" smtClean="0"/>
              <a:t>Assess </a:t>
            </a:r>
            <a:r>
              <a:rPr lang="en-US" dirty="0"/>
              <a:t>Start Point: 01/01/2005 or time point when the fact of negative HF status is </a:t>
            </a:r>
            <a:r>
              <a:rPr lang="en-US" dirty="0" smtClean="0"/>
              <a:t>confirmed</a:t>
            </a:r>
            <a:endParaRPr lang="en-US" dirty="0"/>
          </a:p>
          <a:p>
            <a:r>
              <a:rPr lang="en-US" dirty="0" smtClean="0"/>
              <a:t>HF hospitalization: all adjudicated 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incident HF hospitalization </a:t>
            </a:r>
            <a:r>
              <a:rPr lang="en-US" dirty="0" smtClean="0"/>
              <a:t>variables used for sensitivity analysis:</a:t>
            </a:r>
            <a:endParaRPr lang="en-US" dirty="0"/>
          </a:p>
          <a:p>
            <a:r>
              <a:rPr lang="en-US" dirty="0"/>
              <a:t>Assess Start Point: </a:t>
            </a:r>
            <a:r>
              <a:rPr lang="en-US" dirty="0" smtClean="0"/>
              <a:t>V1</a:t>
            </a:r>
            <a:endParaRPr lang="en-US" dirty="0"/>
          </a:p>
          <a:p>
            <a:r>
              <a:rPr lang="en-US" dirty="0"/>
              <a:t>HF hospitalization: AFU </a:t>
            </a:r>
            <a:r>
              <a:rPr lang="en-US" dirty="0" smtClean="0"/>
              <a:t>reported </a:t>
            </a:r>
            <a:r>
              <a:rPr lang="en-US" dirty="0"/>
              <a:t>Heart Failure Hospitalization events from V1 to 01/01/2005 </a:t>
            </a:r>
            <a:r>
              <a:rPr lang="en-US" dirty="0" smtClean="0"/>
              <a:t>and </a:t>
            </a:r>
            <a:r>
              <a:rPr lang="en-US" dirty="0"/>
              <a:t>adjudicated Heart Failure Hospitalization </a:t>
            </a:r>
            <a:r>
              <a:rPr lang="en-US" dirty="0" smtClean="0"/>
              <a:t>events from </a:t>
            </a:r>
            <a:r>
              <a:rPr lang="en-US" dirty="0"/>
              <a:t>01/01/2005 to 12/31/2012</a:t>
            </a:r>
          </a:p>
        </p:txBody>
      </p:sp>
    </p:spTree>
    <p:extLst>
      <p:ext uri="{BB962C8B-B14F-4D97-AF65-F5344CB8AC3E}">
        <p14:creationId xmlns:p14="http://schemas.microsoft.com/office/powerpoint/2010/main" val="404503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AFU Questions for Heart Failure Hospitalization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Majority of information came from AFU data using AFU form </a:t>
            </a:r>
            <a:r>
              <a:rPr lang="en-US"/>
              <a:t>version </a:t>
            </a:r>
            <a:r>
              <a:rPr lang="en-US" smtClean="0"/>
              <a:t>A/B </a:t>
            </a:r>
            <a:r>
              <a:rPr lang="en-US" dirty="0"/>
              <a:t>(form effective date 8/23/2001), and we </a:t>
            </a:r>
            <a:r>
              <a:rPr lang="en-US" dirty="0" smtClean="0"/>
              <a:t>may also depend </a:t>
            </a:r>
            <a:r>
              <a:rPr lang="en-US" dirty="0"/>
              <a:t>on </a:t>
            </a:r>
            <a:r>
              <a:rPr lang="en-US" dirty="0" smtClean="0"/>
              <a:t>some </a:t>
            </a:r>
            <a:r>
              <a:rPr lang="en-US" dirty="0"/>
              <a:t>AFU data using AFU form version C (form effective date 10/14/2008).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10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AFU Form Version A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724400"/>
            <a:ext cx="8763000" cy="1833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3999"/>
            <a:ext cx="8763000" cy="295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740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AFU Form Version C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42" y="3247265"/>
            <a:ext cx="776545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42" y="4399790"/>
            <a:ext cx="7765458" cy="1310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42" y="5729600"/>
            <a:ext cx="7765458" cy="105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42" y="1476468"/>
            <a:ext cx="7765458" cy="1608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483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Several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Question 7b from Form A (“</a:t>
            </a:r>
            <a:r>
              <a:rPr lang="en-US" b="1" dirty="0">
                <a:solidFill>
                  <a:srgbClr val="FF0000"/>
                </a:solidFill>
              </a:rPr>
              <a:t>ever</a:t>
            </a:r>
            <a:r>
              <a:rPr lang="en-US" dirty="0"/>
              <a:t>”) and Question 9 from Form C (“</a:t>
            </a:r>
            <a:r>
              <a:rPr lang="en-US" b="1" dirty="0">
                <a:solidFill>
                  <a:srgbClr val="FF0000"/>
                </a:solidFill>
              </a:rPr>
              <a:t>since</a:t>
            </a:r>
            <a:r>
              <a:rPr lang="en-US" dirty="0"/>
              <a:t> your last exam on mm/</a:t>
            </a:r>
            <a:r>
              <a:rPr lang="en-US" dirty="0" err="1"/>
              <a:t>dd</a:t>
            </a:r>
            <a:r>
              <a:rPr lang="en-US" dirty="0"/>
              <a:t>/year”) are different</a:t>
            </a:r>
            <a:r>
              <a:rPr lang="en-US" dirty="0" smtClean="0"/>
              <a:t>.</a:t>
            </a:r>
          </a:p>
          <a:p>
            <a:r>
              <a:rPr lang="en-US" dirty="0"/>
              <a:t>Question 7b from Form A </a:t>
            </a:r>
            <a:r>
              <a:rPr lang="en-US" dirty="0" smtClean="0"/>
              <a:t>and </a:t>
            </a:r>
            <a:r>
              <a:rPr lang="en-US" dirty="0"/>
              <a:t>Question 9 from Form C </a:t>
            </a:r>
            <a:r>
              <a:rPr lang="en-US" dirty="0" smtClean="0"/>
              <a:t>mapped two variables HFEVER and HFLASTCNTCT in organized </a:t>
            </a:r>
            <a:r>
              <a:rPr lang="en-US" dirty="0" err="1" smtClean="0"/>
              <a:t>AFUlong</a:t>
            </a:r>
            <a:r>
              <a:rPr lang="en-US" dirty="0" smtClean="0"/>
              <a:t> data set generated by JHS Data Coordinating Center</a:t>
            </a:r>
          </a:p>
          <a:p>
            <a:r>
              <a:rPr lang="en-US" dirty="0"/>
              <a:t>HFEVER and </a:t>
            </a:r>
            <a:r>
              <a:rPr lang="en-US" dirty="0" smtClean="0"/>
              <a:t>HFLASTCNTCT only exist in main AFU forms (A, B, C, D and E) but not other forms (OA, OB, OC and OD) in </a:t>
            </a:r>
            <a:r>
              <a:rPr lang="en-US" dirty="0" err="1" smtClean="0"/>
              <a:t>AFUlong</a:t>
            </a:r>
            <a:r>
              <a:rPr lang="en-US" dirty="0" smtClean="0"/>
              <a:t> data set 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All </a:t>
            </a:r>
            <a:r>
              <a:rPr lang="en-US" b="1" dirty="0">
                <a:solidFill>
                  <a:srgbClr val="FF0000"/>
                </a:solidFill>
              </a:rPr>
              <a:t>AFU before 01/01/2005 used Form A </a:t>
            </a:r>
            <a:r>
              <a:rPr lang="en-US" b="1" dirty="0" smtClean="0">
                <a:solidFill>
                  <a:srgbClr val="FF0000"/>
                </a:solidFill>
              </a:rPr>
              <a:t>(“ever” question) and generated HFEVER variable in </a:t>
            </a:r>
            <a:r>
              <a:rPr lang="en-US" b="1" dirty="0" err="1" smtClean="0">
                <a:solidFill>
                  <a:srgbClr val="FF0000"/>
                </a:solidFill>
              </a:rPr>
              <a:t>AFUlong</a:t>
            </a:r>
            <a:r>
              <a:rPr lang="en-US" b="1" dirty="0" smtClean="0">
                <a:solidFill>
                  <a:srgbClr val="FF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9006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Derive two sets of </a:t>
            </a:r>
            <a:r>
              <a:rPr lang="en-US" dirty="0"/>
              <a:t>HF </a:t>
            </a:r>
            <a:r>
              <a:rPr lang="en-US" dirty="0" smtClean="0"/>
              <a:t>Hospitalization incident variables;</a:t>
            </a:r>
          </a:p>
          <a:p>
            <a:r>
              <a:rPr lang="en-US" dirty="0" smtClean="0"/>
              <a:t>The first set variable, incident </a:t>
            </a:r>
            <a:r>
              <a:rPr lang="en-US" dirty="0"/>
              <a:t>HF Hospitalization </a:t>
            </a:r>
            <a:r>
              <a:rPr lang="en-US" dirty="0" smtClean="0"/>
              <a:t>assessed from </a:t>
            </a:r>
            <a:r>
              <a:rPr lang="en-US" i="1" dirty="0" smtClean="0"/>
              <a:t>around</a:t>
            </a:r>
            <a:r>
              <a:rPr lang="en-US" dirty="0" smtClean="0"/>
              <a:t> 01/01/2005 to 12/31/2012, with AFU data to determine </a:t>
            </a:r>
            <a:r>
              <a:rPr lang="en-US" dirty="0"/>
              <a:t>HF </a:t>
            </a:r>
            <a:r>
              <a:rPr lang="en-US" dirty="0" smtClean="0"/>
              <a:t>Hospitalization status on 01/01/2005  --- suggested for main analysis</a:t>
            </a:r>
          </a:p>
          <a:p>
            <a:r>
              <a:rPr lang="en-US" dirty="0"/>
              <a:t>The </a:t>
            </a:r>
            <a:r>
              <a:rPr lang="en-US" dirty="0" smtClean="0"/>
              <a:t>second </a:t>
            </a:r>
            <a:r>
              <a:rPr lang="en-US" dirty="0"/>
              <a:t>set variable, incident HF Hospitalization assessed from </a:t>
            </a:r>
            <a:r>
              <a:rPr lang="en-US" dirty="0" smtClean="0"/>
              <a:t>V1 to </a:t>
            </a:r>
            <a:r>
              <a:rPr lang="en-US" dirty="0"/>
              <a:t>12/31/2012, HF Hospitalization </a:t>
            </a:r>
            <a:r>
              <a:rPr lang="en-US" dirty="0" smtClean="0"/>
              <a:t>events between V1 to 01/01/2005 used AFU data, </a:t>
            </a:r>
            <a:r>
              <a:rPr lang="en-US" dirty="0"/>
              <a:t>HF Hospitalization </a:t>
            </a:r>
            <a:r>
              <a:rPr lang="en-US" dirty="0" smtClean="0"/>
              <a:t>events between 01/01/2005 to 12/31/2012 used adjudicated </a:t>
            </a:r>
            <a:r>
              <a:rPr lang="en-US" dirty="0"/>
              <a:t>HF Hospitalization </a:t>
            </a:r>
            <a:r>
              <a:rPr lang="en-US" dirty="0" smtClean="0"/>
              <a:t>data ---- suggested for sensitivity analysis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26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19400"/>
            <a:ext cx="88392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Part I: Derivation of </a:t>
            </a:r>
            <a:r>
              <a:rPr lang="en-US" sz="3600" dirty="0"/>
              <a:t>Incident HF Hospitalization </a:t>
            </a:r>
            <a:r>
              <a:rPr lang="en-US" sz="3600" dirty="0" smtClean="0"/>
              <a:t>from 01/01/2005 using AFU data to determine </a:t>
            </a:r>
            <a:r>
              <a:rPr lang="en-US" sz="3600" dirty="0"/>
              <a:t>HF </a:t>
            </a:r>
            <a:r>
              <a:rPr lang="en-US" sz="3600" dirty="0" smtClean="0"/>
              <a:t>Hospitalization status on 01/01/2005 – Main Analysis </a:t>
            </a:r>
            <a:r>
              <a:rPr lang="en-US" sz="3600" dirty="0"/>
              <a:t>Variable </a:t>
            </a:r>
            <a:r>
              <a:rPr lang="en-US" sz="3600" dirty="0" smtClean="0"/>
              <a:t>Derivation</a:t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997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 Population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Population with consent </a:t>
            </a:r>
            <a:r>
              <a:rPr lang="en-US" dirty="0" smtClean="0"/>
              <a:t>“yes” for medical review question after 01/01/2005 and also alive </a:t>
            </a:r>
            <a:r>
              <a:rPr lang="en-US" dirty="0"/>
              <a:t>on 01/01/2005 for HF adjudication</a:t>
            </a:r>
            <a:r>
              <a:rPr lang="en-US" dirty="0" smtClean="0"/>
              <a:t>: </a:t>
            </a:r>
            <a:r>
              <a:rPr lang="en-US" dirty="0"/>
              <a:t>N = </a:t>
            </a:r>
            <a:r>
              <a:rPr lang="en-US" dirty="0" smtClean="0"/>
              <a:t>5042</a:t>
            </a:r>
            <a:endParaRPr lang="en-US" dirty="0"/>
          </a:p>
          <a:p>
            <a:r>
              <a:rPr lang="en-US" dirty="0"/>
              <a:t>The remaining </a:t>
            </a:r>
            <a:r>
              <a:rPr lang="en-US" dirty="0" smtClean="0"/>
              <a:t>264 </a:t>
            </a:r>
            <a:r>
              <a:rPr lang="en-US" dirty="0"/>
              <a:t>subjects </a:t>
            </a:r>
            <a:r>
              <a:rPr lang="en-US" dirty="0" smtClean="0"/>
              <a:t>(84 confirmed deceased and 180 gave negative consent before 01/01/2005) were </a:t>
            </a:r>
            <a:r>
              <a:rPr lang="en-US" dirty="0"/>
              <a:t>classified as additional category.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6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95400" y="4191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371600" y="4191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478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098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5908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528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288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71800" y="37338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64276" y="4340423"/>
            <a:ext cx="1278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At least one Y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438400" y="33528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990600" y="335280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1  N = 181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Left Brace 14"/>
          <p:cNvSpPr/>
          <p:nvPr/>
        </p:nvSpPr>
        <p:spPr>
          <a:xfrm>
            <a:off x="4038600" y="2895600"/>
            <a:ext cx="304800" cy="2590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4572000" y="28956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648200" y="2895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724400" y="27432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486400" y="27432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67400" y="27432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29400" y="27432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105400" y="27432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248400" y="24384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88476" y="3045023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</a:t>
            </a:r>
            <a:r>
              <a:rPr lang="en-US" sz="1400" dirty="0"/>
              <a:t>Y</a:t>
            </a:r>
            <a:r>
              <a:rPr lang="en-US" sz="1400" dirty="0" smtClean="0"/>
              <a:t>       </a:t>
            </a:r>
            <a:r>
              <a:rPr lang="en-US" sz="1400" dirty="0" err="1" smtClean="0"/>
              <a:t>Y</a:t>
            </a:r>
            <a:r>
              <a:rPr lang="en-US" sz="1400" dirty="0" smtClean="0"/>
              <a:t>        </a:t>
            </a:r>
            <a:r>
              <a:rPr lang="en-US" sz="1400" dirty="0" err="1" smtClean="0"/>
              <a:t>Y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5715000" y="2057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191000" y="208520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1.1  N = 134 (Cat = 1)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4572000" y="52578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648200" y="52578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724400" y="5105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486400" y="5105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867400" y="5105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629400" y="5105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105400" y="5105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248400" y="48006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88476" y="5407223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</a:t>
            </a:r>
            <a:r>
              <a:rPr lang="en-US" sz="1400" dirty="0">
                <a:solidFill>
                  <a:srgbClr val="FF0000"/>
                </a:solidFill>
              </a:rPr>
              <a:t>Y</a:t>
            </a:r>
            <a:r>
              <a:rPr lang="en-US" sz="1400" dirty="0" smtClean="0">
                <a:solidFill>
                  <a:srgbClr val="FF0000"/>
                </a:solidFill>
              </a:rPr>
              <a:t>       </a:t>
            </a:r>
            <a:r>
              <a:rPr lang="en-US" sz="1400" dirty="0">
                <a:solidFill>
                  <a:srgbClr val="FF0000"/>
                </a:solidFill>
              </a:rPr>
              <a:t>N</a:t>
            </a:r>
            <a:r>
              <a:rPr lang="en-US" sz="1400" dirty="0" smtClean="0"/>
              <a:t>        Y</a:t>
            </a:r>
            <a:endParaRPr 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5715000" y="44196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4191000" y="444740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1.2  N = 47 </a:t>
            </a:r>
            <a:r>
              <a:rPr lang="en-US" sz="1200" dirty="0">
                <a:solidFill>
                  <a:srgbClr val="FF0000"/>
                </a:solidFill>
              </a:rPr>
              <a:t>(Cat = </a:t>
            </a:r>
            <a:r>
              <a:rPr lang="en-US" sz="1200" dirty="0" smtClean="0">
                <a:solidFill>
                  <a:srgbClr val="FF0000"/>
                </a:solidFill>
              </a:rPr>
              <a:t>2)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Individuals that </a:t>
            </a:r>
            <a:r>
              <a:rPr lang="en-US" sz="3200" dirty="0" smtClean="0"/>
              <a:t>reported HF Hospitalization before 01/01/2005 (N = 181)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9686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Final Study Population at risk for incident Heart Failure Hospitalization: 3530 </a:t>
            </a:r>
            <a:r>
              <a:rPr lang="en-US" dirty="0"/>
              <a:t>+ </a:t>
            </a:r>
            <a:r>
              <a:rPr lang="en-US" dirty="0" smtClean="0"/>
              <a:t>932 </a:t>
            </a:r>
            <a:r>
              <a:rPr lang="en-US" dirty="0"/>
              <a:t>= </a:t>
            </a:r>
            <a:r>
              <a:rPr lang="en-US" dirty="0" smtClean="0"/>
              <a:t>4462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9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-76200" y="3868444"/>
            <a:ext cx="2590800" cy="1371600"/>
            <a:chOff x="304800" y="2743200"/>
            <a:chExt cx="2590800" cy="1371600"/>
          </a:xfrm>
        </p:grpSpPr>
        <p:grpSp>
          <p:nvGrpSpPr>
            <p:cNvPr id="20" name="Group 19"/>
            <p:cNvGrpSpPr/>
            <p:nvPr/>
          </p:nvGrpSpPr>
          <p:grpSpPr>
            <a:xfrm>
              <a:off x="304800" y="2743200"/>
              <a:ext cx="2590800" cy="1371600"/>
              <a:chOff x="304800" y="2743200"/>
              <a:chExt cx="2590800" cy="13716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447800" y="27432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21" name="Straight Connector 20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895600" y="4038600"/>
            <a:ext cx="2590800" cy="1371600"/>
            <a:chOff x="304800" y="2743200"/>
            <a:chExt cx="2590800" cy="1371600"/>
          </a:xfrm>
        </p:grpSpPr>
        <p:grpSp>
          <p:nvGrpSpPr>
            <p:cNvPr id="24" name="Group 23"/>
            <p:cNvGrpSpPr/>
            <p:nvPr/>
          </p:nvGrpSpPr>
          <p:grpSpPr>
            <a:xfrm>
              <a:off x="304800" y="2743200"/>
              <a:ext cx="2590800" cy="1371600"/>
              <a:chOff x="304800" y="2743200"/>
              <a:chExt cx="2590800" cy="13716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447800" y="27432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25" name="Straight Connector 24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971800" y="5562600"/>
            <a:ext cx="2590800" cy="1371600"/>
            <a:chOff x="304800" y="2743200"/>
            <a:chExt cx="2590800" cy="1371600"/>
          </a:xfrm>
        </p:grpSpPr>
        <p:grpSp>
          <p:nvGrpSpPr>
            <p:cNvPr id="37" name="Group 36"/>
            <p:cNvGrpSpPr/>
            <p:nvPr/>
          </p:nvGrpSpPr>
          <p:grpSpPr>
            <a:xfrm>
              <a:off x="304800" y="2743200"/>
              <a:ext cx="2590800" cy="1371600"/>
              <a:chOff x="304800" y="2743200"/>
              <a:chExt cx="2590800" cy="1371600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447800" y="27432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38" name="Straight Connector 37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2895600" y="2133600"/>
            <a:ext cx="2590800" cy="1371600"/>
            <a:chOff x="304800" y="2743200"/>
            <a:chExt cx="2590800" cy="1371600"/>
          </a:xfrm>
        </p:grpSpPr>
        <p:grpSp>
          <p:nvGrpSpPr>
            <p:cNvPr id="50" name="Group 49"/>
            <p:cNvGrpSpPr/>
            <p:nvPr/>
          </p:nvGrpSpPr>
          <p:grpSpPr>
            <a:xfrm>
              <a:off x="304800" y="2743200"/>
              <a:ext cx="2590800" cy="1371600"/>
              <a:chOff x="304800" y="2743200"/>
              <a:chExt cx="2590800" cy="1371600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447800" y="27432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/>
          <p:cNvSpPr txBox="1"/>
          <p:nvPr/>
        </p:nvSpPr>
        <p:spPr>
          <a:xfrm>
            <a:off x="0" y="3868444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2  N = 3713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819400" y="2057400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2.1 N = 3543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12864" y="403860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2.2 N = 66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5)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743200" y="5599279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2.3 N = 104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6)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00600" y="312420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grpSp>
        <p:nvGrpSpPr>
          <p:cNvPr id="100" name="Group 99"/>
          <p:cNvGrpSpPr/>
          <p:nvPr/>
        </p:nvGrpSpPr>
        <p:grpSpPr>
          <a:xfrm>
            <a:off x="6324600" y="1444823"/>
            <a:ext cx="2590800" cy="1145977"/>
            <a:chOff x="304800" y="2968823"/>
            <a:chExt cx="2590800" cy="1145977"/>
          </a:xfrm>
        </p:grpSpPr>
        <p:grpSp>
          <p:nvGrpSpPr>
            <p:cNvPr id="101" name="Group 100"/>
            <p:cNvGrpSpPr/>
            <p:nvPr/>
          </p:nvGrpSpPr>
          <p:grpSpPr>
            <a:xfrm>
              <a:off x="304800" y="2968823"/>
              <a:ext cx="2590800" cy="1145977"/>
              <a:chOff x="304800" y="2968823"/>
              <a:chExt cx="2590800" cy="1145977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Box 110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1447800" y="2968823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02" name="Straight Connector 101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/>
          <p:cNvSpPr txBox="1"/>
          <p:nvPr/>
        </p:nvSpPr>
        <p:spPr>
          <a:xfrm>
            <a:off x="5867400" y="1475601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2.1.1  N = 13 </a:t>
            </a:r>
            <a:r>
              <a:rPr lang="en-US" sz="1200" dirty="0">
                <a:solidFill>
                  <a:srgbClr val="FF0000"/>
                </a:solidFill>
              </a:rPr>
              <a:t>(Cat = </a:t>
            </a:r>
            <a:r>
              <a:rPr lang="en-US" sz="1200" dirty="0" smtClean="0">
                <a:solidFill>
                  <a:srgbClr val="FF0000"/>
                </a:solidFill>
              </a:rPr>
              <a:t>3)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229600" y="220980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6324600" y="2895600"/>
            <a:ext cx="2590800" cy="1371600"/>
            <a:chOff x="304800" y="2743200"/>
            <a:chExt cx="2590800" cy="1371600"/>
          </a:xfrm>
        </p:grpSpPr>
        <p:grpSp>
          <p:nvGrpSpPr>
            <p:cNvPr id="116" name="Group 115"/>
            <p:cNvGrpSpPr/>
            <p:nvPr/>
          </p:nvGrpSpPr>
          <p:grpSpPr>
            <a:xfrm>
              <a:off x="304800" y="2743200"/>
              <a:ext cx="2590800" cy="1371600"/>
              <a:chOff x="304800" y="2743200"/>
              <a:chExt cx="2590800" cy="1371600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TextBox 125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1524000" y="27432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17" name="Straight Connector 116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TextBox 127"/>
          <p:cNvSpPr txBox="1"/>
          <p:nvPr/>
        </p:nvSpPr>
        <p:spPr>
          <a:xfrm>
            <a:off x="5943600" y="2918225"/>
            <a:ext cx="16764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2.1.2 N = 3530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4)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229600" y="388620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sp>
        <p:nvSpPr>
          <p:cNvPr id="130" name="Left Brace 129"/>
          <p:cNvSpPr/>
          <p:nvPr/>
        </p:nvSpPr>
        <p:spPr>
          <a:xfrm>
            <a:off x="2514600" y="2975403"/>
            <a:ext cx="381000" cy="34634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lowchart: Connector 130"/>
          <p:cNvSpPr/>
          <p:nvPr/>
        </p:nvSpPr>
        <p:spPr>
          <a:xfrm>
            <a:off x="8153400" y="2024448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/>
          <p:cNvSpPr/>
          <p:nvPr/>
        </p:nvSpPr>
        <p:spPr>
          <a:xfrm>
            <a:off x="6553200" y="2643315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6705599" y="2542401"/>
            <a:ext cx="25146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Adjudicated HF Hospitalization Event</a:t>
            </a:r>
            <a:endParaRPr lang="en-US" sz="1200" dirty="0"/>
          </a:p>
        </p:txBody>
      </p:sp>
      <p:sp>
        <p:nvSpPr>
          <p:cNvPr id="134" name="TextBox 133"/>
          <p:cNvSpPr txBox="1"/>
          <p:nvPr/>
        </p:nvSpPr>
        <p:spPr>
          <a:xfrm>
            <a:off x="4800600" y="5026223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       …</a:t>
            </a:r>
            <a:endParaRPr lang="en-US" sz="1400" dirty="0"/>
          </a:p>
        </p:txBody>
      </p:sp>
      <p:sp>
        <p:nvSpPr>
          <p:cNvPr id="135" name="TextBox 134"/>
          <p:cNvSpPr txBox="1"/>
          <p:nvPr/>
        </p:nvSpPr>
        <p:spPr>
          <a:xfrm>
            <a:off x="4876800" y="65532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endParaRPr lang="en-US" sz="1000" dirty="0"/>
          </a:p>
        </p:txBody>
      </p:sp>
      <p:sp>
        <p:nvSpPr>
          <p:cNvPr id="136" name="Left Brace 135"/>
          <p:cNvSpPr/>
          <p:nvPr/>
        </p:nvSpPr>
        <p:spPr>
          <a:xfrm>
            <a:off x="5791200" y="2118153"/>
            <a:ext cx="304800" cy="17145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/>
          <p:nvPr/>
        </p:nvCxnSpPr>
        <p:spPr>
          <a:xfrm>
            <a:off x="8001000" y="3275111"/>
            <a:ext cx="0" cy="99208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7010400" y="419100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Assess Start Point</a:t>
            </a:r>
            <a:endParaRPr lang="en-US" sz="1200" dirty="0"/>
          </a:p>
        </p:txBody>
      </p:sp>
      <p:sp>
        <p:nvSpPr>
          <p:cNvPr id="9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Individuals that </a:t>
            </a:r>
            <a:r>
              <a:rPr lang="en-US" sz="3200" dirty="0" smtClean="0"/>
              <a:t>did </a:t>
            </a:r>
            <a:r>
              <a:rPr lang="en-US" sz="3200" dirty="0"/>
              <a:t>not report </a:t>
            </a:r>
            <a:r>
              <a:rPr lang="en-US" sz="3200" dirty="0" smtClean="0"/>
              <a:t>HF Hospitalization </a:t>
            </a:r>
            <a:r>
              <a:rPr lang="en-US" sz="3200" dirty="0"/>
              <a:t>at any AFU before </a:t>
            </a:r>
            <a:r>
              <a:rPr lang="en-US" sz="3200" dirty="0" smtClean="0"/>
              <a:t>01/01/2005 (N = 3713)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341076" y="5380672"/>
            <a:ext cx="272672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467 answers ‘N’ from Form C Question 9</a:t>
            </a:r>
          </a:p>
          <a:p>
            <a:r>
              <a:rPr lang="en-US" dirty="0" smtClean="0"/>
              <a:t>3063 answers ‘N’ from Form A Question 7b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Both answers can be used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>
            <a:stCxn id="3" idx="0"/>
          </p:cNvCxnSpPr>
          <p:nvPr/>
        </p:nvCxnSpPr>
        <p:spPr>
          <a:xfrm flipV="1">
            <a:off x="7704438" y="4145444"/>
            <a:ext cx="677562" cy="123522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2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6200" y="4208756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52400" y="4191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28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90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371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33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752600" y="3446756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33528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152400" y="44196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15" name="Left Brace 14"/>
          <p:cNvSpPr/>
          <p:nvPr/>
        </p:nvSpPr>
        <p:spPr>
          <a:xfrm>
            <a:off x="2743200" y="2209800"/>
            <a:ext cx="381000" cy="3886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28600" y="3380601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  N = 1148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3429000" y="248531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05200" y="248531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581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724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486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962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105400" y="202811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0" y="18288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505200" y="271391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2948868" y="1828800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3.1  N = 1051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3429000" y="46482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505200" y="4648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581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343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724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486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962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105400" y="41910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0" y="403562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3505200" y="48768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3048000" y="4038600"/>
            <a:ext cx="1577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3.2  N = 25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10)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>
            <a:off x="3429000" y="6096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505200" y="6096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581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343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724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486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962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105400" y="56388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0" y="5486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3505200" y="63246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3106444" y="5514201"/>
            <a:ext cx="1617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3.3  N = 72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11)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6059" y="63246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cxnSp>
        <p:nvCxnSpPr>
          <p:cNvPr id="61" name="Straight Connector 60"/>
          <p:cNvCxnSpPr/>
          <p:nvPr/>
        </p:nvCxnSpPr>
        <p:spPr>
          <a:xfrm>
            <a:off x="5867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5867400" y="4482411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5867400" y="2327759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36059" y="4846021"/>
            <a:ext cx="836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</a:t>
            </a:r>
            <a:r>
              <a:rPr lang="en-US" sz="1400" dirty="0" smtClean="0"/>
              <a:t>       …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334000" y="2665511"/>
            <a:ext cx="836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grpSp>
        <p:nvGrpSpPr>
          <p:cNvPr id="102" name="Group 101"/>
          <p:cNvGrpSpPr/>
          <p:nvPr/>
        </p:nvGrpSpPr>
        <p:grpSpPr>
          <a:xfrm>
            <a:off x="6558376" y="695911"/>
            <a:ext cx="2590800" cy="1107488"/>
            <a:chOff x="304800" y="3007312"/>
            <a:chExt cx="2590800" cy="1107488"/>
          </a:xfrm>
        </p:grpSpPr>
        <p:grpSp>
          <p:nvGrpSpPr>
            <p:cNvPr id="103" name="Group 102"/>
            <p:cNvGrpSpPr/>
            <p:nvPr/>
          </p:nvGrpSpPr>
          <p:grpSpPr>
            <a:xfrm>
              <a:off x="304800" y="3007312"/>
              <a:ext cx="2590800" cy="1107488"/>
              <a:chOff x="304800" y="3007312"/>
              <a:chExt cx="2590800" cy="1107488"/>
            </a:xfrm>
          </p:grpSpPr>
          <p:cxnSp>
            <p:nvCxnSpPr>
              <p:cNvPr id="105" name="Straight Connector 104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12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1447800" y="3007312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04" name="Straight Connector 103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/>
          <p:cNvSpPr txBox="1"/>
          <p:nvPr/>
        </p:nvSpPr>
        <p:spPr>
          <a:xfrm>
            <a:off x="6101176" y="723712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.1.1  N = 1 </a:t>
            </a:r>
            <a:r>
              <a:rPr lang="en-US" sz="1200" dirty="0">
                <a:solidFill>
                  <a:srgbClr val="FF0000"/>
                </a:solidFill>
              </a:rPr>
              <a:t>(Cat = 7</a:t>
            </a:r>
            <a:r>
              <a:rPr lang="en-US" sz="1200" dirty="0" smtClean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463376" y="1564688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grpSp>
        <p:nvGrpSpPr>
          <p:cNvPr id="117" name="Group 116"/>
          <p:cNvGrpSpPr/>
          <p:nvPr/>
        </p:nvGrpSpPr>
        <p:grpSpPr>
          <a:xfrm>
            <a:off x="6558376" y="1701224"/>
            <a:ext cx="2590800" cy="1222177"/>
            <a:chOff x="304800" y="2892623"/>
            <a:chExt cx="2590800" cy="1222177"/>
          </a:xfrm>
        </p:grpSpPr>
        <p:grpSp>
          <p:nvGrpSpPr>
            <p:cNvPr id="118" name="Group 117"/>
            <p:cNvGrpSpPr/>
            <p:nvPr/>
          </p:nvGrpSpPr>
          <p:grpSpPr>
            <a:xfrm>
              <a:off x="304800" y="2892623"/>
              <a:ext cx="2590800" cy="1222177"/>
              <a:chOff x="304800" y="2892623"/>
              <a:chExt cx="2590800" cy="1222177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1524000" y="2892623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19" name="Straight Connector 118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6177376" y="1729599"/>
            <a:ext cx="16764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.1.2 N = 932 (Cat </a:t>
            </a:r>
            <a:r>
              <a:rPr lang="en-US" sz="1200" dirty="0">
                <a:solidFill>
                  <a:srgbClr val="FF0000"/>
                </a:solidFill>
              </a:rPr>
              <a:t>= 8</a:t>
            </a:r>
            <a:r>
              <a:rPr lang="en-US" sz="1200" dirty="0" smtClean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463376" y="2542401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sp>
        <p:nvSpPr>
          <p:cNvPr id="132" name="Flowchart: Connector 131"/>
          <p:cNvSpPr/>
          <p:nvPr/>
        </p:nvSpPr>
        <p:spPr>
          <a:xfrm>
            <a:off x="8387176" y="1237047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Left Brace 132"/>
          <p:cNvSpPr/>
          <p:nvPr/>
        </p:nvSpPr>
        <p:spPr>
          <a:xfrm>
            <a:off x="6024976" y="1171218"/>
            <a:ext cx="304800" cy="25625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Connector 133"/>
          <p:cNvCxnSpPr/>
          <p:nvPr/>
        </p:nvCxnSpPr>
        <p:spPr>
          <a:xfrm>
            <a:off x="8615776" y="1931312"/>
            <a:ext cx="0" cy="99208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7315200" y="2847201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Assess Start Point</a:t>
            </a:r>
            <a:endParaRPr lang="en-US" sz="1200" dirty="0"/>
          </a:p>
        </p:txBody>
      </p:sp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Individuals missing HF question answer for all AFUs before 01/01/2005 </a:t>
            </a:r>
            <a:r>
              <a:rPr lang="en-US" sz="2800" dirty="0" smtClean="0"/>
              <a:t>(N = 1148)</a:t>
            </a:r>
            <a:endParaRPr lang="en-US" sz="2800" dirty="0"/>
          </a:p>
        </p:txBody>
      </p:sp>
      <p:sp>
        <p:nvSpPr>
          <p:cNvPr id="91" name="TextBox 90"/>
          <p:cNvSpPr txBox="1"/>
          <p:nvPr/>
        </p:nvSpPr>
        <p:spPr>
          <a:xfrm>
            <a:off x="6705600" y="2635466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92" name="TextBox 91"/>
          <p:cNvSpPr txBox="1"/>
          <p:nvPr/>
        </p:nvSpPr>
        <p:spPr>
          <a:xfrm>
            <a:off x="6690095" y="1488689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grpSp>
        <p:nvGrpSpPr>
          <p:cNvPr id="93" name="Group 92"/>
          <p:cNvGrpSpPr/>
          <p:nvPr/>
        </p:nvGrpSpPr>
        <p:grpSpPr>
          <a:xfrm>
            <a:off x="6553200" y="3352800"/>
            <a:ext cx="2590800" cy="1222177"/>
            <a:chOff x="304800" y="2892623"/>
            <a:chExt cx="2590800" cy="1222177"/>
          </a:xfrm>
        </p:grpSpPr>
        <p:grpSp>
          <p:nvGrpSpPr>
            <p:cNvPr id="94" name="Group 93"/>
            <p:cNvGrpSpPr/>
            <p:nvPr/>
          </p:nvGrpSpPr>
          <p:grpSpPr>
            <a:xfrm>
              <a:off x="304800" y="2892623"/>
              <a:ext cx="2590800" cy="1222177"/>
              <a:chOff x="304800" y="2892623"/>
              <a:chExt cx="2590800" cy="1222177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TextBox 137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1524000" y="2892623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95" name="Straight Connector 94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/>
          <p:cNvSpPr txBox="1"/>
          <p:nvPr/>
        </p:nvSpPr>
        <p:spPr>
          <a:xfrm>
            <a:off x="6248400" y="3380601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3.1.3 N = 118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9)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458200" y="4193977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sp>
        <p:nvSpPr>
          <p:cNvPr id="144" name="TextBox 143"/>
          <p:cNvSpPr txBox="1"/>
          <p:nvPr/>
        </p:nvSpPr>
        <p:spPr>
          <a:xfrm>
            <a:off x="6700424" y="4287042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145" name="TextBox 144"/>
          <p:cNvSpPr txBox="1"/>
          <p:nvPr/>
        </p:nvSpPr>
        <p:spPr>
          <a:xfrm>
            <a:off x="6341076" y="5380672"/>
            <a:ext cx="272672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116 answers ‘N’ from Form C Question 9 (</a:t>
            </a:r>
            <a:r>
              <a:rPr lang="en-US" sz="1600" b="1" dirty="0" smtClean="0">
                <a:solidFill>
                  <a:srgbClr val="FF0000"/>
                </a:solidFill>
              </a:rPr>
              <a:t>can not be used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933 answers ‘N’ from Form A Question 7b (</a:t>
            </a:r>
            <a:r>
              <a:rPr lang="en-US" sz="1600" b="1" dirty="0" smtClean="0">
                <a:solidFill>
                  <a:srgbClr val="FF0000"/>
                </a:solidFill>
              </a:rPr>
              <a:t>can be used</a:t>
            </a:r>
            <a:r>
              <a:rPr lang="en-US" sz="1600" dirty="0" smtClean="0"/>
              <a:t>)</a:t>
            </a:r>
          </a:p>
        </p:txBody>
      </p:sp>
      <p:cxnSp>
        <p:nvCxnSpPr>
          <p:cNvPr id="146" name="Straight Arrow Connector 145"/>
          <p:cNvCxnSpPr>
            <a:stCxn id="145" idx="0"/>
          </p:cNvCxnSpPr>
          <p:nvPr/>
        </p:nvCxnSpPr>
        <p:spPr>
          <a:xfrm flipV="1">
            <a:off x="7704438" y="4419600"/>
            <a:ext cx="838201" cy="96107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45" idx="0"/>
          </p:cNvCxnSpPr>
          <p:nvPr/>
        </p:nvCxnSpPr>
        <p:spPr>
          <a:xfrm flipV="1">
            <a:off x="7704438" y="2771001"/>
            <a:ext cx="906162" cy="260967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/>
          <p:nvPr/>
        </p:nvCxnSpPr>
        <p:spPr>
          <a:xfrm flipV="1">
            <a:off x="7991777" y="2523410"/>
            <a:ext cx="596725" cy="413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3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Individuals </a:t>
            </a:r>
            <a:r>
              <a:rPr lang="en-US" sz="3200" dirty="0" smtClean="0"/>
              <a:t>that deceased or gave negative consent before 01/01/2005 (N </a:t>
            </a:r>
            <a:r>
              <a:rPr lang="en-US" sz="3200" dirty="0"/>
              <a:t>= </a:t>
            </a:r>
            <a:r>
              <a:rPr lang="en-US" sz="3200" dirty="0" smtClean="0"/>
              <a:t>264)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3293534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  <a:r>
              <a:rPr lang="en-US" sz="1200" dirty="0" smtClean="0">
                <a:solidFill>
                  <a:srgbClr val="FF0000"/>
                </a:solidFill>
              </a:rPr>
              <a:t>  N = 264 (Cat = 12)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371600" y="41148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47800" y="41148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524000" y="3962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286000" y="3962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05000" y="3962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048000" y="36576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4600" y="32766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1066800" y="4325780"/>
            <a:ext cx="2133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Deceased </a:t>
            </a:r>
            <a:r>
              <a:rPr lang="en-US" sz="1000" dirty="0"/>
              <a:t>or gave </a:t>
            </a:r>
            <a:r>
              <a:rPr lang="en-US" sz="1000" dirty="0" smtClean="0"/>
              <a:t>negative consent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9549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Heart Failure Hospitalization Incidence Data Set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784178"/>
              </p:ext>
            </p:extLst>
          </p:nvPr>
        </p:nvGraphicFramePr>
        <p:xfrm>
          <a:off x="905052" y="1600201"/>
          <a:ext cx="7333895" cy="4525961"/>
        </p:xfrm>
        <a:graphic>
          <a:graphicData uri="http://schemas.openxmlformats.org/drawingml/2006/table">
            <a:tbl>
              <a:tblPr/>
              <a:tblGrid>
                <a:gridCol w="1466779"/>
                <a:gridCol w="1466779"/>
                <a:gridCol w="1466779"/>
                <a:gridCol w="1466779"/>
                <a:gridCol w="1466779"/>
              </a:tblGrid>
              <a:tr h="5738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2.53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2.53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181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3.41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0.25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3.66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3530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66.53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3724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70.18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3790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71.43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1.96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3894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73.39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3895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73.41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932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17.57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4827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90.97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4945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93.20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4970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93.67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1.36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5042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95.02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3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264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4.98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5306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</a:t>
                      </a:r>
                    </a:p>
                  </a:txBody>
                  <a:tcPr marL="42442" marR="42442" marT="42442" marB="4244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05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Heart Failure Hospitalization Incidence Data Set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994779"/>
              </p:ext>
            </p:extLst>
          </p:nvPr>
        </p:nvGraphicFramePr>
        <p:xfrm>
          <a:off x="457200" y="1784111"/>
          <a:ext cx="8229600" cy="1752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844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15.91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844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15.91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4225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79.63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5069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95.53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4.47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5306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100.00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75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Heart Failure Hospitalization Incidence Data Set </a:t>
            </a:r>
            <a:r>
              <a:rPr lang="en-US" sz="2700" dirty="0" smtClean="0"/>
              <a:t>(Assessed from 01/01/2005, suggested for Main Analysis)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SubjID</a:t>
            </a:r>
            <a:endParaRPr lang="en-US" dirty="0" smtClean="0"/>
          </a:p>
          <a:p>
            <a:r>
              <a:rPr lang="en-US" dirty="0" smtClean="0"/>
              <a:t>HF</a:t>
            </a:r>
            <a:r>
              <a:rPr lang="en-US" dirty="0"/>
              <a:t>: </a:t>
            </a:r>
            <a:r>
              <a:rPr lang="en-US" dirty="0" smtClean="0"/>
              <a:t>Heart Failure Hospitalization status</a:t>
            </a:r>
            <a:r>
              <a:rPr lang="en-US" dirty="0"/>
              <a:t>, HF = 1, N = </a:t>
            </a:r>
            <a:r>
              <a:rPr lang="en-US" dirty="0" smtClean="0"/>
              <a:t>237; </a:t>
            </a:r>
            <a:r>
              <a:rPr lang="en-US" dirty="0"/>
              <a:t>HF = 0, N = </a:t>
            </a:r>
            <a:r>
              <a:rPr lang="en-US" dirty="0" smtClean="0"/>
              <a:t>4225; </a:t>
            </a:r>
            <a:r>
              <a:rPr lang="en-US" dirty="0"/>
              <a:t>HF = . N = </a:t>
            </a:r>
            <a:r>
              <a:rPr lang="en-US" dirty="0" smtClean="0"/>
              <a:t>844;</a:t>
            </a:r>
          </a:p>
          <a:p>
            <a:r>
              <a:rPr lang="en-US" dirty="0" err="1" smtClean="0"/>
              <a:t>Examdate</a:t>
            </a:r>
            <a:r>
              <a:rPr lang="en-US" dirty="0" smtClean="0"/>
              <a:t>: HF Hospitalization incidence assessment start point, 01/01/2005 for cat = 4 and first AFU after 01/01/2005 for Cat = 8;</a:t>
            </a:r>
          </a:p>
          <a:p>
            <a:r>
              <a:rPr lang="en-US" dirty="0" smtClean="0"/>
              <a:t>Date: Censoring time or event time; </a:t>
            </a:r>
          </a:p>
          <a:p>
            <a:r>
              <a:rPr lang="en-US" dirty="0" smtClean="0"/>
              <a:t>Year: Censoring year or event year;</a:t>
            </a:r>
          </a:p>
          <a:p>
            <a:r>
              <a:rPr lang="en-US" dirty="0" smtClean="0"/>
              <a:t>Years: total HF Hospitalization assessed years;</a:t>
            </a:r>
          </a:p>
          <a:p>
            <a:r>
              <a:rPr lang="en-US" dirty="0" smtClean="0"/>
              <a:t>Days: total HF Hospitalization assessed days;</a:t>
            </a:r>
          </a:p>
          <a:p>
            <a:r>
              <a:rPr lang="en-US" dirty="0" err="1" smtClean="0"/>
              <a:t>Contacttype</a:t>
            </a:r>
            <a:endParaRPr lang="en-US" dirty="0" smtClean="0"/>
          </a:p>
          <a:p>
            <a:r>
              <a:rPr lang="en-US" dirty="0" smtClean="0"/>
              <a:t>Cat: </a:t>
            </a:r>
            <a:r>
              <a:rPr lang="en-US" dirty="0"/>
              <a:t>Categories specified representing different </a:t>
            </a:r>
            <a:r>
              <a:rPr lang="en-US" dirty="0" smtClean="0"/>
              <a:t>HF Hospitalization status </a:t>
            </a:r>
            <a:r>
              <a:rPr lang="en-US" dirty="0"/>
              <a:t>at incidence assessment start point by </a:t>
            </a:r>
            <a:r>
              <a:rPr lang="en-US" dirty="0" smtClean="0"/>
              <a:t>AFU</a:t>
            </a:r>
          </a:p>
        </p:txBody>
      </p:sp>
    </p:spTree>
    <p:extLst>
      <p:ext uri="{BB962C8B-B14F-4D97-AF65-F5344CB8AC3E}">
        <p14:creationId xmlns:p14="http://schemas.microsoft.com/office/powerpoint/2010/main" val="133771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514600"/>
            <a:ext cx="88392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Part II: Derivation of </a:t>
            </a:r>
            <a:r>
              <a:rPr lang="en-US" sz="4000" dirty="0"/>
              <a:t>Incident HF Hospitalization </a:t>
            </a:r>
            <a:r>
              <a:rPr lang="en-US" sz="4000" dirty="0" smtClean="0"/>
              <a:t>from V1 by combining AFU HF Identification Information</a:t>
            </a:r>
            <a:br>
              <a:rPr lang="en-US" sz="4000" dirty="0" smtClean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Start Population: N = </a:t>
            </a:r>
            <a:r>
              <a:rPr lang="en-US" sz="4000" dirty="0" smtClean="0"/>
              <a:t>5306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620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352800" y="33528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429000" y="33528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505200" y="3200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267200" y="3200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648200" y="3200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10200" y="3200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886200" y="3200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029200" y="28956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52800" y="3502223"/>
            <a:ext cx="1736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        Any answer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495800" y="25146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3064477" y="2771002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1  N = 126 (Cat = 1)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Individuals that </a:t>
            </a:r>
            <a:r>
              <a:rPr lang="en-US" sz="4000" dirty="0" smtClean="0"/>
              <a:t>reported </a:t>
            </a:r>
            <a:r>
              <a:rPr lang="en-US" sz="4000" dirty="0"/>
              <a:t>HF </a:t>
            </a:r>
            <a:r>
              <a:rPr lang="en-US" sz="4000" dirty="0" smtClean="0"/>
              <a:t>positive at first AFU after V1 (N = 126)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838200" y="4655773"/>
            <a:ext cx="13716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First AFU Y</a:t>
            </a:r>
          </a:p>
        </p:txBody>
      </p:sp>
      <p:cxnSp>
        <p:nvCxnSpPr>
          <p:cNvPr id="16" name="Straight Arrow Connector 15"/>
          <p:cNvCxnSpPr>
            <a:stCxn id="15" idx="0"/>
          </p:cNvCxnSpPr>
          <p:nvPr/>
        </p:nvCxnSpPr>
        <p:spPr>
          <a:xfrm flipV="1">
            <a:off x="1524000" y="3718519"/>
            <a:ext cx="1916159" cy="93725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21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95400" y="35052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371600" y="3505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47800" y="3352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09800" y="3352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590800" y="3352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52800" y="3352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28800" y="3352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71800" y="30480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5400" y="3654623"/>
            <a:ext cx="1736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At least one Y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438400" y="26670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1126523" y="3022605"/>
            <a:ext cx="13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2</a:t>
            </a:r>
            <a:r>
              <a:rPr lang="en-US" sz="1200" dirty="0" smtClean="0">
                <a:solidFill>
                  <a:srgbClr val="FF0000"/>
                </a:solidFill>
              </a:rPr>
              <a:t>  N = 68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Left Brace 14"/>
          <p:cNvSpPr/>
          <p:nvPr/>
        </p:nvSpPr>
        <p:spPr>
          <a:xfrm>
            <a:off x="4038600" y="2209800"/>
            <a:ext cx="304800" cy="2590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4572000" y="22098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648200" y="22098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724400" y="2057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486400" y="2057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67400" y="2057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29400" y="2057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105400" y="20574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248400" y="17526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88476" y="2359223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</a:t>
            </a:r>
            <a:r>
              <a:rPr lang="en-US" sz="1400" dirty="0"/>
              <a:t>Y</a:t>
            </a:r>
            <a:r>
              <a:rPr lang="en-US" sz="1400" dirty="0" smtClean="0"/>
              <a:t>       </a:t>
            </a:r>
            <a:r>
              <a:rPr lang="en-US" sz="1400" dirty="0" err="1" smtClean="0"/>
              <a:t>Y</a:t>
            </a:r>
            <a:r>
              <a:rPr lang="en-US" sz="1400" dirty="0" smtClean="0"/>
              <a:t>        </a:t>
            </a:r>
            <a:r>
              <a:rPr lang="en-US" sz="1400" dirty="0" err="1" smtClean="0"/>
              <a:t>Y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5715000" y="27432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190999" y="1676400"/>
            <a:ext cx="327660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2</a:t>
            </a:r>
            <a:r>
              <a:rPr lang="en-US" sz="1200" dirty="0" smtClean="0">
                <a:solidFill>
                  <a:srgbClr val="FF0000"/>
                </a:solidFill>
              </a:rPr>
              <a:t>.1  N = </a:t>
            </a:r>
            <a:r>
              <a:rPr lang="en-US" sz="1200" dirty="0">
                <a:solidFill>
                  <a:srgbClr val="FF0000"/>
                </a:solidFill>
              </a:rPr>
              <a:t>52 (Cat = </a:t>
            </a:r>
            <a:r>
              <a:rPr lang="en-US" sz="1200" dirty="0" smtClean="0">
                <a:solidFill>
                  <a:srgbClr val="FF0000"/>
                </a:solidFill>
              </a:rPr>
              <a:t>2) with AFU identified HF event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4572000" y="4572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648200" y="4572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724400" y="4419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486400" y="4419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867400" y="4419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629400" y="4419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105400" y="4419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248400" y="41148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88476" y="4721423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</a:t>
            </a:r>
            <a:r>
              <a:rPr lang="en-US" sz="1400" dirty="0">
                <a:solidFill>
                  <a:srgbClr val="FF0000"/>
                </a:solidFill>
              </a:rPr>
              <a:t>Y</a:t>
            </a:r>
            <a:r>
              <a:rPr lang="en-US" sz="1400" dirty="0" smtClean="0">
                <a:solidFill>
                  <a:srgbClr val="FF0000"/>
                </a:solidFill>
              </a:rPr>
              <a:t>       </a:t>
            </a:r>
            <a:r>
              <a:rPr lang="en-US" sz="1400" dirty="0">
                <a:solidFill>
                  <a:srgbClr val="FF0000"/>
                </a:solidFill>
              </a:rPr>
              <a:t>N</a:t>
            </a:r>
            <a:r>
              <a:rPr lang="en-US" sz="1400" dirty="0" smtClean="0"/>
              <a:t>        Y</a:t>
            </a:r>
            <a:endParaRPr 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5715000" y="5105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4343400" y="4114800"/>
            <a:ext cx="33528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2</a:t>
            </a:r>
            <a:r>
              <a:rPr lang="en-US" sz="1200" dirty="0" smtClean="0">
                <a:solidFill>
                  <a:srgbClr val="FF0000"/>
                </a:solidFill>
              </a:rPr>
              <a:t>.2  N = </a:t>
            </a:r>
            <a:r>
              <a:rPr lang="en-US" sz="1200" dirty="0">
                <a:solidFill>
                  <a:srgbClr val="FF0000"/>
                </a:solidFill>
              </a:rPr>
              <a:t>16 (Cat = </a:t>
            </a:r>
            <a:r>
              <a:rPr lang="en-US" sz="1200" dirty="0" smtClean="0">
                <a:solidFill>
                  <a:srgbClr val="FF0000"/>
                </a:solidFill>
              </a:rPr>
              <a:t>3</a:t>
            </a:r>
            <a:r>
              <a:rPr lang="en-US" sz="1200" dirty="0">
                <a:solidFill>
                  <a:srgbClr val="FF0000"/>
                </a:solidFill>
              </a:rPr>
              <a:t>) with AFU identified HF event</a:t>
            </a:r>
          </a:p>
        </p:txBody>
      </p: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dirty="0"/>
              <a:t>Individuals that </a:t>
            </a:r>
            <a:r>
              <a:rPr lang="en-US" sz="2400" dirty="0" smtClean="0"/>
              <a:t>reported </a:t>
            </a:r>
            <a:r>
              <a:rPr lang="en-US" sz="2400" dirty="0"/>
              <a:t>HF </a:t>
            </a:r>
            <a:r>
              <a:rPr lang="en-US" sz="2400" dirty="0" smtClean="0"/>
              <a:t>negative at first AFU after V1 but at least one HF positive before 01/01/2005 (N = 68)</a:t>
            </a:r>
            <a:endParaRPr lang="en-US" sz="2400" dirty="0"/>
          </a:p>
        </p:txBody>
      </p:sp>
      <p:sp>
        <p:nvSpPr>
          <p:cNvPr id="38" name="Flowchart: Connector 37"/>
          <p:cNvSpPr/>
          <p:nvPr/>
        </p:nvSpPr>
        <p:spPr>
          <a:xfrm>
            <a:off x="4876800" y="2175296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/>
          <p:cNvSpPr/>
          <p:nvPr/>
        </p:nvSpPr>
        <p:spPr>
          <a:xfrm>
            <a:off x="4876800" y="4544688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286000" y="5546984"/>
            <a:ext cx="38100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middle point of first HF positive and previous HF negative AFU date</a:t>
            </a:r>
            <a:endParaRPr lang="en-US" sz="1600" dirty="0" smtClean="0"/>
          </a:p>
        </p:txBody>
      </p:sp>
      <p:cxnSp>
        <p:nvCxnSpPr>
          <p:cNvPr id="42" name="Straight Arrow Connector 41"/>
          <p:cNvCxnSpPr>
            <a:stCxn id="41" idx="0"/>
            <a:endCxn id="40" idx="3"/>
          </p:cNvCxnSpPr>
          <p:nvPr/>
        </p:nvCxnSpPr>
        <p:spPr>
          <a:xfrm flipV="1">
            <a:off x="4191000" y="4609729"/>
            <a:ext cx="696959" cy="937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41" idx="0"/>
            <a:endCxn id="38" idx="4"/>
          </p:cNvCxnSpPr>
          <p:nvPr/>
        </p:nvCxnSpPr>
        <p:spPr>
          <a:xfrm flipV="1">
            <a:off x="4191000" y="2251496"/>
            <a:ext cx="723900" cy="329548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8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-76200" y="2573044"/>
            <a:ext cx="2590800" cy="1371600"/>
            <a:chOff x="304800" y="2743200"/>
            <a:chExt cx="2590800" cy="1371600"/>
          </a:xfrm>
        </p:grpSpPr>
        <p:grpSp>
          <p:nvGrpSpPr>
            <p:cNvPr id="20" name="Group 19"/>
            <p:cNvGrpSpPr/>
            <p:nvPr/>
          </p:nvGrpSpPr>
          <p:grpSpPr>
            <a:xfrm>
              <a:off x="304800" y="2743200"/>
              <a:ext cx="2590800" cy="1371600"/>
              <a:chOff x="304800" y="2743200"/>
              <a:chExt cx="2590800" cy="13716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447800" y="27432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21" name="Straight Connector 20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895600" y="3124200"/>
            <a:ext cx="2590800" cy="1145977"/>
            <a:chOff x="304800" y="3124200"/>
            <a:chExt cx="2590800" cy="1145977"/>
          </a:xfrm>
        </p:grpSpPr>
        <p:grpSp>
          <p:nvGrpSpPr>
            <p:cNvPr id="24" name="Group 23"/>
            <p:cNvGrpSpPr/>
            <p:nvPr/>
          </p:nvGrpSpPr>
          <p:grpSpPr>
            <a:xfrm>
              <a:off x="304800" y="3124200"/>
              <a:ext cx="2590800" cy="1145977"/>
              <a:chOff x="304800" y="3124200"/>
              <a:chExt cx="2590800" cy="1145977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447800" y="396240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25" name="Straight Connector 24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2971800" y="4648200"/>
            <a:ext cx="2590800" cy="1219200"/>
            <a:chOff x="304800" y="3124200"/>
            <a:chExt cx="2590800" cy="1219200"/>
          </a:xfrm>
        </p:grpSpPr>
        <p:grpSp>
          <p:nvGrpSpPr>
            <p:cNvPr id="37" name="Group 36"/>
            <p:cNvGrpSpPr/>
            <p:nvPr/>
          </p:nvGrpSpPr>
          <p:grpSpPr>
            <a:xfrm>
              <a:off x="304800" y="3124200"/>
              <a:ext cx="2590800" cy="1219200"/>
              <a:chOff x="304800" y="3124200"/>
              <a:chExt cx="2590800" cy="1219200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447800" y="4035623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38" name="Straight Connector 37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2895600" y="1219200"/>
            <a:ext cx="2590800" cy="1219200"/>
            <a:chOff x="304800" y="3124200"/>
            <a:chExt cx="2590800" cy="1219200"/>
          </a:xfrm>
        </p:grpSpPr>
        <p:grpSp>
          <p:nvGrpSpPr>
            <p:cNvPr id="50" name="Group 49"/>
            <p:cNvGrpSpPr/>
            <p:nvPr/>
          </p:nvGrpSpPr>
          <p:grpSpPr>
            <a:xfrm>
              <a:off x="304800" y="3124200"/>
              <a:ext cx="2590800" cy="1219200"/>
              <a:chOff x="304800" y="3124200"/>
              <a:chExt cx="2590800" cy="1219200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447800" y="4035623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51" name="Straight Connector 50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/>
          <p:cNvSpPr txBox="1"/>
          <p:nvPr/>
        </p:nvSpPr>
        <p:spPr>
          <a:xfrm>
            <a:off x="-76200" y="2968823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  N = 3872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819399" y="1167824"/>
            <a:ext cx="152400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.1 N = 3650 </a:t>
            </a:r>
            <a:r>
              <a:rPr lang="en-US" sz="1200" dirty="0">
                <a:solidFill>
                  <a:srgbClr val="FF0000"/>
                </a:solidFill>
              </a:rPr>
              <a:t>(Cat = 4</a:t>
            </a:r>
            <a:r>
              <a:rPr lang="en-US" sz="1200" dirty="0" smtClean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12864" y="274320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.2 N = 68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743200" y="4523601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3</a:t>
            </a:r>
            <a:r>
              <a:rPr lang="en-US" sz="1200" dirty="0" smtClean="0">
                <a:solidFill>
                  <a:srgbClr val="FF0000"/>
                </a:solidFill>
              </a:rPr>
              <a:t>.3 N = 154 (Cat </a:t>
            </a:r>
            <a:r>
              <a:rPr lang="en-US" sz="1200" dirty="0">
                <a:solidFill>
                  <a:srgbClr val="FF0000"/>
                </a:solidFill>
              </a:rPr>
              <a:t>= 7</a:t>
            </a:r>
            <a:r>
              <a:rPr lang="en-US" sz="1200" dirty="0" smtClean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800600" y="182880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grpSp>
        <p:nvGrpSpPr>
          <p:cNvPr id="100" name="Group 99"/>
          <p:cNvGrpSpPr/>
          <p:nvPr/>
        </p:nvGrpSpPr>
        <p:grpSpPr>
          <a:xfrm>
            <a:off x="6096000" y="2208746"/>
            <a:ext cx="2590800" cy="1223231"/>
            <a:chOff x="304800" y="3124200"/>
            <a:chExt cx="2590800" cy="1223231"/>
          </a:xfrm>
        </p:grpSpPr>
        <p:grpSp>
          <p:nvGrpSpPr>
            <p:cNvPr id="101" name="Group 100"/>
            <p:cNvGrpSpPr/>
            <p:nvPr/>
          </p:nvGrpSpPr>
          <p:grpSpPr>
            <a:xfrm>
              <a:off x="304800" y="3124200"/>
              <a:ext cx="2590800" cy="1223231"/>
              <a:chOff x="304800" y="3124200"/>
              <a:chExt cx="2590800" cy="1223231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TextBox 110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1447800" y="4039654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02" name="Straight Connector 101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/>
          <p:cNvSpPr txBox="1"/>
          <p:nvPr/>
        </p:nvSpPr>
        <p:spPr>
          <a:xfrm>
            <a:off x="5638800" y="2084147"/>
            <a:ext cx="1535159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3.2.1  N = </a:t>
            </a:r>
            <a:r>
              <a:rPr lang="en-US" sz="1200" dirty="0">
                <a:solidFill>
                  <a:srgbClr val="FF0000"/>
                </a:solidFill>
              </a:rPr>
              <a:t>8</a:t>
            </a:r>
            <a:r>
              <a:rPr lang="en-US" sz="1200" dirty="0" smtClean="0">
                <a:solidFill>
                  <a:srgbClr val="FF0000"/>
                </a:solidFill>
              </a:rPr>
              <a:t> </a:t>
            </a:r>
            <a:r>
              <a:rPr lang="en-US" sz="1200" dirty="0">
                <a:solidFill>
                  <a:srgbClr val="FF0000"/>
                </a:solidFill>
              </a:rPr>
              <a:t>(Cat = 5</a:t>
            </a:r>
            <a:r>
              <a:rPr lang="en-US" sz="1200" dirty="0" smtClean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001000" y="281834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</a:t>
            </a:r>
            <a:r>
              <a:rPr lang="en-US" sz="1400" dirty="0" smtClean="0"/>
              <a:t>       …</a:t>
            </a:r>
            <a:endParaRPr lang="en-US" sz="1400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6096000" y="3885146"/>
            <a:ext cx="2590800" cy="1223231"/>
            <a:chOff x="304800" y="3124200"/>
            <a:chExt cx="2590800" cy="1223231"/>
          </a:xfrm>
        </p:grpSpPr>
        <p:grpSp>
          <p:nvGrpSpPr>
            <p:cNvPr id="116" name="Group 115"/>
            <p:cNvGrpSpPr/>
            <p:nvPr/>
          </p:nvGrpSpPr>
          <p:grpSpPr>
            <a:xfrm>
              <a:off x="304800" y="3124200"/>
              <a:ext cx="2590800" cy="1223231"/>
              <a:chOff x="304800" y="3124200"/>
              <a:chExt cx="2590800" cy="1223231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TextBox 125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N 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</a:t>
                </a:r>
                <a:r>
                  <a:rPr lang="en-US" sz="1400" dirty="0" err="1" smtClean="0"/>
                  <a:t>N</a:t>
                </a:r>
                <a:r>
                  <a:rPr lang="en-US" sz="1400" dirty="0" smtClean="0"/>
                  <a:t>       </a:t>
                </a:r>
                <a:r>
                  <a:rPr lang="en-US" sz="1400" dirty="0" err="1" smtClean="0"/>
                  <a:t>N</a:t>
                </a:r>
                <a:endParaRPr lang="en-US" sz="1400" dirty="0"/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1524000" y="4039654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17" name="Straight Connector 116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TextBox 127"/>
          <p:cNvSpPr txBox="1"/>
          <p:nvPr/>
        </p:nvSpPr>
        <p:spPr>
          <a:xfrm>
            <a:off x="5715000" y="3837801"/>
            <a:ext cx="33528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3.2.2 N = 60 (Cat </a:t>
            </a:r>
            <a:r>
              <a:rPr lang="en-US" sz="1200" dirty="0">
                <a:solidFill>
                  <a:srgbClr val="FF0000"/>
                </a:solidFill>
              </a:rPr>
              <a:t>= 6) with AFU identified HF event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49474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</a:t>
            </a:r>
            <a:r>
              <a:rPr lang="en-US" sz="1400" dirty="0" smtClean="0"/>
              <a:t>       …</a:t>
            </a:r>
            <a:endParaRPr lang="en-US" sz="1400" dirty="0"/>
          </a:p>
        </p:txBody>
      </p:sp>
      <p:sp>
        <p:nvSpPr>
          <p:cNvPr id="130" name="Left Brace 129"/>
          <p:cNvSpPr/>
          <p:nvPr/>
        </p:nvSpPr>
        <p:spPr>
          <a:xfrm>
            <a:off x="2514600" y="1680003"/>
            <a:ext cx="381000" cy="34634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Flowchart: Connector 130"/>
          <p:cNvSpPr/>
          <p:nvPr/>
        </p:nvSpPr>
        <p:spPr>
          <a:xfrm>
            <a:off x="8001330" y="2629746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Flowchart: Connector 131"/>
          <p:cNvSpPr/>
          <p:nvPr/>
        </p:nvSpPr>
        <p:spPr>
          <a:xfrm>
            <a:off x="7552038" y="4316838"/>
            <a:ext cx="76200" cy="76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7620000" y="1783378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Adjudicated HF Event</a:t>
            </a:r>
            <a:endParaRPr lang="en-US" sz="1200" dirty="0"/>
          </a:p>
        </p:txBody>
      </p:sp>
      <p:sp>
        <p:nvSpPr>
          <p:cNvPr id="134" name="TextBox 133"/>
          <p:cNvSpPr txBox="1"/>
          <p:nvPr/>
        </p:nvSpPr>
        <p:spPr>
          <a:xfrm>
            <a:off x="4800600" y="3730823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       …</a:t>
            </a:r>
            <a:endParaRPr lang="en-US" sz="1400" dirty="0"/>
          </a:p>
        </p:txBody>
      </p:sp>
      <p:sp>
        <p:nvSpPr>
          <p:cNvPr id="135" name="TextBox 134"/>
          <p:cNvSpPr txBox="1"/>
          <p:nvPr/>
        </p:nvSpPr>
        <p:spPr>
          <a:xfrm>
            <a:off x="4876800" y="52578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endParaRPr lang="en-US" sz="1000" dirty="0"/>
          </a:p>
        </p:txBody>
      </p:sp>
      <p:sp>
        <p:nvSpPr>
          <p:cNvPr id="136" name="Left Brace 135"/>
          <p:cNvSpPr/>
          <p:nvPr/>
        </p:nvSpPr>
        <p:spPr>
          <a:xfrm>
            <a:off x="5562600" y="2726699"/>
            <a:ext cx="304800" cy="17145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Individuals that </a:t>
            </a:r>
            <a:r>
              <a:rPr lang="en-US" sz="3200" dirty="0" smtClean="0"/>
              <a:t>did </a:t>
            </a:r>
            <a:r>
              <a:rPr lang="en-US" sz="3200" dirty="0"/>
              <a:t>not report HF at any AFU before </a:t>
            </a:r>
            <a:r>
              <a:rPr lang="en-US" sz="3200" dirty="0" smtClean="0"/>
              <a:t>01/01/2005 (N = 3872)</a:t>
            </a:r>
            <a:endParaRPr lang="en-US" sz="3200" dirty="0"/>
          </a:p>
        </p:txBody>
      </p:sp>
      <p:sp>
        <p:nvSpPr>
          <p:cNvPr id="141" name="TextBox 140"/>
          <p:cNvSpPr txBox="1"/>
          <p:nvPr/>
        </p:nvSpPr>
        <p:spPr>
          <a:xfrm>
            <a:off x="5486400" y="5906869"/>
            <a:ext cx="272672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Adjudicated Events not identified: event time specified as middle point of last AFU before 01/01/2005 and 01/01/2005</a:t>
            </a:r>
          </a:p>
        </p:txBody>
      </p:sp>
      <p:cxnSp>
        <p:nvCxnSpPr>
          <p:cNvPr id="143" name="Straight Arrow Connector 142"/>
          <p:cNvCxnSpPr>
            <a:endCxn id="132" idx="3"/>
          </p:cNvCxnSpPr>
          <p:nvPr/>
        </p:nvCxnSpPr>
        <p:spPr>
          <a:xfrm flipV="1">
            <a:off x="6857999" y="4381879"/>
            <a:ext cx="705198" cy="152499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5697495" y="936723"/>
            <a:ext cx="272672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Adjudicated Events identified: event time specified as first adjudicated event time after 01/01/2005 </a:t>
            </a:r>
          </a:p>
        </p:txBody>
      </p:sp>
      <p:cxnSp>
        <p:nvCxnSpPr>
          <p:cNvPr id="145" name="Straight Arrow Connector 144"/>
          <p:cNvCxnSpPr>
            <a:endCxn id="131" idx="1"/>
          </p:cNvCxnSpPr>
          <p:nvPr/>
        </p:nvCxnSpPr>
        <p:spPr>
          <a:xfrm>
            <a:off x="6949627" y="1592381"/>
            <a:ext cx="1062862" cy="104852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19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6200" y="4208756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52400" y="4191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28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90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371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133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9600" y="4038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752600" y="3446756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9200" y="33528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152400" y="44196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15" name="Left Brace 14"/>
          <p:cNvSpPr/>
          <p:nvPr/>
        </p:nvSpPr>
        <p:spPr>
          <a:xfrm>
            <a:off x="2743200" y="2209800"/>
            <a:ext cx="381000" cy="38862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28600" y="3380601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  <a:r>
              <a:rPr lang="en-US" sz="1200" dirty="0" smtClean="0">
                <a:solidFill>
                  <a:srgbClr val="FF0000"/>
                </a:solidFill>
              </a:rPr>
              <a:t>  N = 1240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3429000" y="248531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05200" y="248531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581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724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486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962400" y="233291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105400" y="202811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0" y="2968823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505200" y="271391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2948868" y="1828800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  <a:r>
              <a:rPr lang="en-US" sz="1200" dirty="0" smtClean="0">
                <a:solidFill>
                  <a:srgbClr val="FF0000"/>
                </a:solidFill>
              </a:rPr>
              <a:t>.1  N = 1109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3429000" y="46482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505200" y="46482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581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343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724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486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962400" y="44958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105400" y="41910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0" y="5105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3505200" y="48768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3048000" y="4038600"/>
            <a:ext cx="1577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  <a:r>
              <a:rPr lang="en-US" sz="1200" dirty="0" smtClean="0">
                <a:solidFill>
                  <a:srgbClr val="FF0000"/>
                </a:solidFill>
              </a:rPr>
              <a:t>.2  N = 25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10)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>
            <a:off x="3429000" y="6096000"/>
            <a:ext cx="259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505200" y="60960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581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343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724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486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962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105400" y="5638800"/>
            <a:ext cx="0" cy="990600"/>
          </a:xfrm>
          <a:prstGeom prst="line">
            <a:avLst/>
          </a:prstGeom>
          <a:ln w="31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572000" y="652013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01/01/2005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3505200" y="63246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3106444" y="5514201"/>
            <a:ext cx="1617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3.3  N = 106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11)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6059" y="6324600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cxnSp>
        <p:nvCxnSpPr>
          <p:cNvPr id="61" name="Straight Connector 60"/>
          <p:cNvCxnSpPr/>
          <p:nvPr/>
        </p:nvCxnSpPr>
        <p:spPr>
          <a:xfrm>
            <a:off x="5867400" y="5943600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5867400" y="4482411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5867400" y="2327759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36059" y="4846021"/>
            <a:ext cx="836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</a:t>
            </a:r>
            <a:r>
              <a:rPr lang="en-US" sz="1400" dirty="0" smtClean="0"/>
              <a:t>       …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5334000" y="2665511"/>
            <a:ext cx="836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grpSp>
        <p:nvGrpSpPr>
          <p:cNvPr id="117" name="Group 116"/>
          <p:cNvGrpSpPr/>
          <p:nvPr/>
        </p:nvGrpSpPr>
        <p:grpSpPr>
          <a:xfrm>
            <a:off x="6558376" y="1206313"/>
            <a:ext cx="2590800" cy="1232087"/>
            <a:chOff x="304800" y="3124200"/>
            <a:chExt cx="2590800" cy="1232087"/>
          </a:xfrm>
        </p:grpSpPr>
        <p:grpSp>
          <p:nvGrpSpPr>
            <p:cNvPr id="118" name="Group 117"/>
            <p:cNvGrpSpPr/>
            <p:nvPr/>
          </p:nvGrpSpPr>
          <p:grpSpPr>
            <a:xfrm>
              <a:off x="304800" y="3124200"/>
              <a:ext cx="2590800" cy="1232087"/>
              <a:chOff x="304800" y="3124200"/>
              <a:chExt cx="2590800" cy="1232087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TextBox 127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1442624" y="4048510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119" name="Straight Connector 118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6172200" y="914400"/>
            <a:ext cx="167640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  <a:r>
              <a:rPr lang="en-US" sz="1200" dirty="0" smtClean="0">
                <a:solidFill>
                  <a:srgbClr val="FF0000"/>
                </a:solidFill>
              </a:rPr>
              <a:t>.1.2 N = 984 (Cat </a:t>
            </a:r>
            <a:r>
              <a:rPr lang="en-US" sz="1200" dirty="0">
                <a:solidFill>
                  <a:srgbClr val="FF0000"/>
                </a:solidFill>
              </a:rPr>
              <a:t>= 8</a:t>
            </a:r>
            <a:r>
              <a:rPr lang="en-US" sz="1200" dirty="0" smtClean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463376" y="1815913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sp>
        <p:nvSpPr>
          <p:cNvPr id="133" name="Left Brace 132"/>
          <p:cNvSpPr/>
          <p:nvPr/>
        </p:nvSpPr>
        <p:spPr>
          <a:xfrm>
            <a:off x="6024976" y="1171218"/>
            <a:ext cx="304800" cy="25625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Individuals missing HF question answer for all AFUs before 01/01/2005 </a:t>
            </a:r>
            <a:r>
              <a:rPr lang="en-US" sz="2800" dirty="0" smtClean="0"/>
              <a:t>(N = 1240)</a:t>
            </a:r>
            <a:endParaRPr lang="en-US" sz="2800" dirty="0"/>
          </a:p>
        </p:txBody>
      </p:sp>
      <p:sp>
        <p:nvSpPr>
          <p:cNvPr id="91" name="TextBox 90"/>
          <p:cNvSpPr txBox="1"/>
          <p:nvPr/>
        </p:nvSpPr>
        <p:spPr>
          <a:xfrm>
            <a:off x="6705600" y="1908978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grpSp>
        <p:nvGrpSpPr>
          <p:cNvPr id="93" name="Group 92"/>
          <p:cNvGrpSpPr/>
          <p:nvPr/>
        </p:nvGrpSpPr>
        <p:grpSpPr>
          <a:xfrm>
            <a:off x="6553200" y="3124200"/>
            <a:ext cx="2590800" cy="1222177"/>
            <a:chOff x="304800" y="2892623"/>
            <a:chExt cx="2590800" cy="1222177"/>
          </a:xfrm>
        </p:grpSpPr>
        <p:grpSp>
          <p:nvGrpSpPr>
            <p:cNvPr id="94" name="Group 93"/>
            <p:cNvGrpSpPr/>
            <p:nvPr/>
          </p:nvGrpSpPr>
          <p:grpSpPr>
            <a:xfrm>
              <a:off x="304800" y="2892623"/>
              <a:ext cx="2590800" cy="1222177"/>
              <a:chOff x="304800" y="2892623"/>
              <a:chExt cx="2590800" cy="1222177"/>
            </a:xfrm>
          </p:grpSpPr>
          <p:cxnSp>
            <p:nvCxnSpPr>
              <p:cNvPr id="96" name="Straight Connector 95"/>
              <p:cNvCxnSpPr/>
              <p:nvPr/>
            </p:nvCxnSpPr>
            <p:spPr>
              <a:xfrm>
                <a:off x="304800" y="3581400"/>
                <a:ext cx="2590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381000" y="3581400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457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>
                <a:off x="1219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1600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>
                <a:off x="2362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838200" y="34290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1981200" y="3124200"/>
                <a:ext cx="0" cy="990600"/>
              </a:xfrm>
              <a:prstGeom prst="line">
                <a:avLst/>
              </a:prstGeom>
              <a:ln w="31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TextBox 137"/>
              <p:cNvSpPr txBox="1"/>
              <p:nvPr/>
            </p:nvSpPr>
            <p:spPr>
              <a:xfrm>
                <a:off x="321276" y="3730823"/>
                <a:ext cx="2133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</p:txBody>
          </p:sp>
          <p:sp>
            <p:nvSpPr>
              <p:cNvPr id="139" name="TextBox 138"/>
              <p:cNvSpPr txBox="1"/>
              <p:nvPr/>
            </p:nvSpPr>
            <p:spPr>
              <a:xfrm>
                <a:off x="1524000" y="2892623"/>
                <a:ext cx="10668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01/01/2005</a:t>
                </a:r>
                <a:endParaRPr lang="en-US" sz="1400" dirty="0"/>
              </a:p>
            </p:txBody>
          </p:sp>
        </p:grpSp>
        <p:cxnSp>
          <p:nvCxnSpPr>
            <p:cNvPr id="95" name="Straight Connector 94"/>
            <p:cNvCxnSpPr/>
            <p:nvPr/>
          </p:nvCxnSpPr>
          <p:spPr>
            <a:xfrm>
              <a:off x="2743200" y="34290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TextBox 139"/>
          <p:cNvSpPr txBox="1"/>
          <p:nvPr/>
        </p:nvSpPr>
        <p:spPr>
          <a:xfrm>
            <a:off x="6248400" y="3152001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4</a:t>
            </a:r>
            <a:r>
              <a:rPr lang="en-US" sz="1200" dirty="0" smtClean="0">
                <a:solidFill>
                  <a:srgbClr val="FF0000"/>
                </a:solidFill>
              </a:rPr>
              <a:t>.1.3 N = 125 (Cat </a:t>
            </a:r>
            <a:r>
              <a:rPr lang="en-US" sz="1200" dirty="0">
                <a:solidFill>
                  <a:srgbClr val="FF0000"/>
                </a:solidFill>
              </a:rPr>
              <a:t>= </a:t>
            </a:r>
            <a:r>
              <a:rPr lang="en-US" sz="1200" dirty="0" smtClean="0">
                <a:solidFill>
                  <a:srgbClr val="FF0000"/>
                </a:solidFill>
              </a:rPr>
              <a:t>9)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458200" y="3965377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       …</a:t>
            </a:r>
            <a:endParaRPr lang="en-US" sz="1400" dirty="0"/>
          </a:p>
        </p:txBody>
      </p:sp>
      <p:sp>
        <p:nvSpPr>
          <p:cNvPr id="144" name="TextBox 143"/>
          <p:cNvSpPr txBox="1"/>
          <p:nvPr/>
        </p:nvSpPr>
        <p:spPr>
          <a:xfrm>
            <a:off x="6700424" y="4058442"/>
            <a:ext cx="13695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Missing  </a:t>
            </a:r>
            <a:r>
              <a:rPr lang="en-US" sz="1000" dirty="0" err="1" smtClean="0"/>
              <a:t>Missing</a:t>
            </a:r>
            <a:r>
              <a:rPr lang="en-US" sz="1000" dirty="0" smtClean="0"/>
              <a:t>   …</a:t>
            </a:r>
            <a:endParaRPr lang="en-US" sz="1000" dirty="0"/>
          </a:p>
        </p:txBody>
      </p:sp>
      <p:sp>
        <p:nvSpPr>
          <p:cNvPr id="145" name="TextBox 144"/>
          <p:cNvSpPr txBox="1"/>
          <p:nvPr/>
        </p:nvSpPr>
        <p:spPr>
          <a:xfrm>
            <a:off x="6341076" y="5171182"/>
            <a:ext cx="272672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123 answers ‘N’ from Form C Question 9 (</a:t>
            </a:r>
            <a:r>
              <a:rPr lang="en-US" sz="1600" b="1" dirty="0" smtClean="0">
                <a:solidFill>
                  <a:srgbClr val="FF0000"/>
                </a:solidFill>
              </a:rPr>
              <a:t>can not be used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985 answers ‘N’ from Form A Question 7b (</a:t>
            </a:r>
            <a:r>
              <a:rPr lang="en-US" sz="1600" b="1" dirty="0" smtClean="0">
                <a:solidFill>
                  <a:srgbClr val="FF0000"/>
                </a:solidFill>
              </a:rPr>
              <a:t>can be used</a:t>
            </a:r>
            <a:r>
              <a:rPr lang="en-US" sz="1600" dirty="0" smtClean="0"/>
              <a:t>)</a:t>
            </a:r>
          </a:p>
        </p:txBody>
      </p:sp>
      <p:cxnSp>
        <p:nvCxnSpPr>
          <p:cNvPr id="146" name="Straight Arrow Connector 145"/>
          <p:cNvCxnSpPr>
            <a:stCxn id="145" idx="0"/>
          </p:cNvCxnSpPr>
          <p:nvPr/>
        </p:nvCxnSpPr>
        <p:spPr>
          <a:xfrm flipV="1">
            <a:off x="7704438" y="4208756"/>
            <a:ext cx="829962" cy="96242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45" idx="0"/>
          </p:cNvCxnSpPr>
          <p:nvPr/>
        </p:nvCxnSpPr>
        <p:spPr>
          <a:xfrm flipV="1">
            <a:off x="7704438" y="2105799"/>
            <a:ext cx="906162" cy="306538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05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Heart Failure Hospitalization Incidence Data Set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65804"/>
              </p:ext>
            </p:extLst>
          </p:nvPr>
        </p:nvGraphicFramePr>
        <p:xfrm>
          <a:off x="617275" y="1600200"/>
          <a:ext cx="7909450" cy="4525964"/>
        </p:xfrm>
        <a:graphic>
          <a:graphicData uri="http://schemas.openxmlformats.org/drawingml/2006/table">
            <a:tbl>
              <a:tblPr/>
              <a:tblGrid>
                <a:gridCol w="1581890"/>
                <a:gridCol w="1581890"/>
                <a:gridCol w="1581890"/>
                <a:gridCol w="1581890"/>
                <a:gridCol w="1581890"/>
              </a:tblGrid>
              <a:tr h="61884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2.37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2.37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0.98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3.35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0.30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194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3.66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3650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68.79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3844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72.45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0.15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3852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72.60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1.13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3912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73.73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154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2.90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76.63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984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18.55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5050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95.18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2.36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5175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97.53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0.47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5200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98.00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551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5306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</a:t>
                      </a:r>
                    </a:p>
                  </a:txBody>
                  <a:tcPr marL="45772" marR="45772" marT="45772" marB="45772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13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Heart Failure Hospitalization Incidence Data Set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04875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57200" y="2986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088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543707"/>
              </p:ext>
            </p:extLst>
          </p:nvPr>
        </p:nvGraphicFramePr>
        <p:xfrm>
          <a:off x="467264" y="1981200"/>
          <a:ext cx="8229600" cy="1752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Frequency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Cumulative</a:t>
                      </a:r>
                      <a:b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Percent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536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10.10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536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10.10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4384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82.62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4920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92.73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386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7.27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5306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100.00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Heart Failure Hospitalization Incidence Data Set </a:t>
            </a:r>
            <a:r>
              <a:rPr lang="en-US" sz="2700" dirty="0" smtClean="0"/>
              <a:t>(Assessed from V1, Suggested for Sensitivity Analysis)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AFUHF</a:t>
            </a:r>
            <a:r>
              <a:rPr lang="en-US" dirty="0"/>
              <a:t>: </a:t>
            </a:r>
            <a:r>
              <a:rPr lang="en-US" dirty="0" smtClean="0"/>
              <a:t>Heart Failure Hospitalization status</a:t>
            </a:r>
            <a:r>
              <a:rPr lang="en-US" dirty="0"/>
              <a:t>, </a:t>
            </a:r>
            <a:r>
              <a:rPr lang="en-US" dirty="0" smtClean="0"/>
              <a:t>AFUHF </a:t>
            </a:r>
            <a:r>
              <a:rPr lang="en-US" dirty="0"/>
              <a:t>= 1, N = </a:t>
            </a:r>
            <a:r>
              <a:rPr lang="en-US" dirty="0" smtClean="0"/>
              <a:t>386; </a:t>
            </a:r>
            <a:r>
              <a:rPr lang="en-US" dirty="0"/>
              <a:t>HF = 0, N = </a:t>
            </a:r>
            <a:r>
              <a:rPr lang="en-US" dirty="0" smtClean="0"/>
              <a:t>4384; </a:t>
            </a:r>
            <a:r>
              <a:rPr lang="en-US" dirty="0"/>
              <a:t>HF = . N = </a:t>
            </a:r>
            <a:r>
              <a:rPr lang="en-US" dirty="0" smtClean="0"/>
              <a:t>536;</a:t>
            </a:r>
          </a:p>
          <a:p>
            <a:r>
              <a:rPr lang="en-US" dirty="0" err="1" smtClean="0"/>
              <a:t>AFUExamdate</a:t>
            </a:r>
            <a:r>
              <a:rPr lang="en-US" dirty="0" smtClean="0"/>
              <a:t>: HF Hospitalization incidence assessment start point, all from V1;</a:t>
            </a:r>
          </a:p>
          <a:p>
            <a:r>
              <a:rPr lang="en-US" dirty="0" err="1" smtClean="0"/>
              <a:t>AFUDate</a:t>
            </a:r>
            <a:r>
              <a:rPr lang="en-US" dirty="0" smtClean="0"/>
              <a:t>: Censoring time or event time; </a:t>
            </a:r>
          </a:p>
          <a:p>
            <a:r>
              <a:rPr lang="en-US" dirty="0" err="1" smtClean="0"/>
              <a:t>AFUYear</a:t>
            </a:r>
            <a:r>
              <a:rPr lang="en-US" dirty="0" smtClean="0"/>
              <a:t>: Censoring year or event year;</a:t>
            </a:r>
          </a:p>
          <a:p>
            <a:r>
              <a:rPr lang="en-US" dirty="0" err="1" smtClean="0"/>
              <a:t>AFUYears</a:t>
            </a:r>
            <a:r>
              <a:rPr lang="en-US" dirty="0" smtClean="0"/>
              <a:t>: total HF Hospitalization assessed years;</a:t>
            </a:r>
          </a:p>
          <a:p>
            <a:r>
              <a:rPr lang="en-US" dirty="0" err="1" smtClean="0"/>
              <a:t>AFUDays</a:t>
            </a:r>
            <a:r>
              <a:rPr lang="en-US" dirty="0" smtClean="0"/>
              <a:t>: total HF Hospitalization assessed days;</a:t>
            </a:r>
          </a:p>
          <a:p>
            <a:r>
              <a:rPr lang="en-US" dirty="0" err="1" smtClean="0"/>
              <a:t>AFUContacttype</a:t>
            </a:r>
            <a:endParaRPr lang="en-US" dirty="0" smtClean="0"/>
          </a:p>
          <a:p>
            <a:r>
              <a:rPr lang="en-US" dirty="0" err="1" smtClean="0"/>
              <a:t>AFUCat</a:t>
            </a:r>
            <a:r>
              <a:rPr lang="en-US" dirty="0" smtClean="0"/>
              <a:t>: Categories specified representing different identification sources (AFU or adjudication) of HF Hospitalization events </a:t>
            </a:r>
          </a:p>
        </p:txBody>
      </p:sp>
    </p:spTree>
    <p:extLst>
      <p:ext uri="{BB962C8B-B14F-4D97-AF65-F5344CB8AC3E}">
        <p14:creationId xmlns:p14="http://schemas.microsoft.com/office/powerpoint/2010/main" val="178819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29ADEEB7C09448951BFD05C7CBA33D" ma:contentTypeVersion="4" ma:contentTypeDescription="Create a new document." ma:contentTypeScope="" ma:versionID="8190ae690c8986577044f568d9d6c752">
  <xsd:schema xmlns:xsd="http://www.w3.org/2001/XMLSchema" xmlns:xs="http://www.w3.org/2001/XMLSchema" xmlns:p="http://schemas.microsoft.com/office/2006/metadata/properties" xmlns:ns1="http://schemas.microsoft.com/sharepoint/v3" xmlns:ns2="99867a00-c415-4de4-9fe8-0c755a98a286" targetNamespace="http://schemas.microsoft.com/office/2006/metadata/properties" ma:root="true" ma:fieldsID="e6430f55602991fe1827cb91fa277ace" ns1:_="" ns2:_="">
    <xsd:import namespace="http://schemas.microsoft.com/sharepoint/v3"/>
    <xsd:import namespace="99867a00-c415-4de4-9fe8-0c755a98a28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867a00-c415-4de4-9fe8-0c755a98a28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9524B9A-6944-4C5E-8728-8D1B1EEA93BB}"/>
</file>

<file path=customXml/itemProps2.xml><?xml version="1.0" encoding="utf-8"?>
<ds:datastoreItem xmlns:ds="http://schemas.openxmlformats.org/officeDocument/2006/customXml" ds:itemID="{DCE3229E-609B-4602-A582-42FE7F09AEB4}"/>
</file>

<file path=customXml/itemProps3.xml><?xml version="1.0" encoding="utf-8"?>
<ds:datastoreItem xmlns:ds="http://schemas.openxmlformats.org/officeDocument/2006/customXml" ds:itemID="{3F08324A-1AF4-40BC-AED6-7D31164E03A6}"/>
</file>

<file path=docProps/app.xml><?xml version="1.0" encoding="utf-8"?>
<Properties xmlns="http://schemas.openxmlformats.org/officeDocument/2006/extended-properties" xmlns:vt="http://schemas.openxmlformats.org/officeDocument/2006/docPropsVTypes">
  <TotalTime>3696</TotalTime>
  <Words>1779</Words>
  <Application>Microsoft Office PowerPoint</Application>
  <PresentationFormat>On-screen Show (4:3)</PresentationFormat>
  <Paragraphs>388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Heart Failure Hospitalization Incidence Data Set Derivation for Jackson Heart Study</vt:lpstr>
      <vt:lpstr>Question:</vt:lpstr>
      <vt:lpstr>Facts and Strategies (I)</vt:lpstr>
      <vt:lpstr>Facts and Strategies (II)</vt:lpstr>
      <vt:lpstr>Facts and Strategies (III)</vt:lpstr>
      <vt:lpstr>AFU Questions for Heart Failure Hospitalization</vt:lpstr>
      <vt:lpstr>AFU Form Version A</vt:lpstr>
      <vt:lpstr>AFU Form Version C</vt:lpstr>
      <vt:lpstr>Several Notes</vt:lpstr>
      <vt:lpstr>Objective</vt:lpstr>
      <vt:lpstr>Part I: Derivation of Incident HF Hospitalization from 01/01/2005 using AFU data to determine HF Hospitalization status on 01/01/2005 – Main Analysis Variable Derivation  </vt:lpstr>
      <vt:lpstr>Start Population</vt:lpstr>
      <vt:lpstr>Individuals that reported HF Hospitalization before 01/01/2005 (N = 181)</vt:lpstr>
      <vt:lpstr>PowerPoint Presentation</vt:lpstr>
      <vt:lpstr>Individuals that did not report HF Hospitalization at any AFU before 01/01/2005 (N = 3713)</vt:lpstr>
      <vt:lpstr>Individuals missing HF question answer for all AFUs before 01/01/2005 (N = 1148)</vt:lpstr>
      <vt:lpstr>Individuals that deceased or gave negative consent before 01/01/2005 (N = 264)</vt:lpstr>
      <vt:lpstr>Heart Failure Hospitalization Incidence Data Set</vt:lpstr>
      <vt:lpstr>Heart Failure Hospitalization Incidence Data Set</vt:lpstr>
      <vt:lpstr>Heart Failure Hospitalization Incidence Data Set (Assessed from 01/01/2005, suggested for Main Analysis)</vt:lpstr>
      <vt:lpstr>Part II: Derivation of Incident HF Hospitalization from V1 by combining AFU HF Identification Information  Start Population: N = 5306 </vt:lpstr>
      <vt:lpstr>Individuals that reported HF positive at first AFU after V1 (N = 126)</vt:lpstr>
      <vt:lpstr>Individuals that reported HF negative at first AFU after V1 but at least one HF positive before 01/01/2005 (N = 68)</vt:lpstr>
      <vt:lpstr>Individuals that did not report HF at any AFU before 01/01/2005 (N = 3872)</vt:lpstr>
      <vt:lpstr>Individuals missing HF question answer for all AFUs before 01/01/2005 (N = 1240)</vt:lpstr>
      <vt:lpstr>Heart Failure Hospitalization Incidence Data Set</vt:lpstr>
      <vt:lpstr>Heart Failure Hospitalization Incidence Data Set</vt:lpstr>
      <vt:lpstr>Heart Failure Hospitalization Incidence Data Set (Assessed from V1, Suggested for Sensitivity Analysis)</vt:lpstr>
    </vt:vector>
  </TitlesOfParts>
  <Company>University of Mississippi Medical Center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Wang</dc:creator>
  <cp:lastModifiedBy>Chad Blackshear</cp:lastModifiedBy>
  <cp:revision>144</cp:revision>
  <dcterms:created xsi:type="dcterms:W3CDTF">2014-01-21T20:31:30Z</dcterms:created>
  <dcterms:modified xsi:type="dcterms:W3CDTF">2015-12-30T19:54:21Z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  <property fmtid="{D5CDD505-2E9C-101B-9397-08002B2CF9AE}" pid="3" name="ContentTypeId">
    <vt:lpwstr>0x010100FA29ADEEB7C09448951BFD05C7CBA33D</vt:lpwstr>
  </property>
  <property fmtid="{D5CDD505-2E9C-101B-9397-08002B2CF9AE}" pid="4" name="Order">
    <vt:r8>1592200</vt:r8>
  </property>
</Properties>
</file>