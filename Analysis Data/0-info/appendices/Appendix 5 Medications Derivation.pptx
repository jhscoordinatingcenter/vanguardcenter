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9" r:id="rId10"/>
    <p:sldId id="270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xam 1" id="{0F94EB86-32D9-456E-806C-4A9110215E68}">
          <p14:sldIdLst>
            <p14:sldId id="256"/>
            <p14:sldId id="259"/>
            <p14:sldId id="258"/>
            <p14:sldId id="260"/>
          </p14:sldIdLst>
        </p14:section>
        <p14:section name="Exam 2" id="{E8EAF797-0F09-4D7C-91F3-02934E9D2F51}">
          <p14:sldIdLst>
            <p14:sldId id="261"/>
            <p14:sldId id="262"/>
            <p14:sldId id="263"/>
            <p14:sldId id="264"/>
          </p14:sldIdLst>
        </p14:section>
        <p14:section name="Exam 3" id="{BE471421-378D-48E2-9163-1F3598A90489}">
          <p14:sldIdLst>
            <p14:sldId id="269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47" autoAdjust="0"/>
    <p:restoredTop sz="82585" autoAdjust="0"/>
  </p:normalViewPr>
  <p:slideViewPr>
    <p:cSldViewPr snapToGrid="0">
      <p:cViewPr varScale="1">
        <p:scale>
          <a:sx n="116" d="100"/>
          <a:sy n="116" d="100"/>
        </p:scale>
        <p:origin x="7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6D0C8C-F3FB-48AA-A5B7-F43470DB7D8C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C2A829-28C6-4EB0-B14F-A29DFB554A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3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C2A829-28C6-4EB0-B14F-A29DFB554A6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59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C2A829-28C6-4EB0-B14F-A29DFB554A6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823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C2A829-28C6-4EB0-B14F-A29DFB554A6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595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79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14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4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06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7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714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34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9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515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300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F805C-7CC2-45B1-A851-20ACFE33C995}" type="datetimeFigureOut">
              <a:rPr lang="en-US" smtClean="0"/>
              <a:t>7/25/2016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397409-6860-43D6-8276-1512EDF83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9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cksonheartstudy.org/Portals/0/pdf/form1/MSRA0-F.pdf?ver=2015-05-14-092649-637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cksonheartstudy.org/Portals/0/pdf/form2/MSRB-F.pdf?ver=2015-05-14-092710-797" TargetMode="External"/><Relationship Id="rId3" Type="http://schemas.openxmlformats.org/officeDocument/2006/relationships/image" Target="../media/image1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cksonheartstudy.org/Portals/0/pdf/form3/MSRC-F.pdf?ver=2015-07-07-130441-413" TargetMode="External"/><Relationship Id="rId3" Type="http://schemas.openxmlformats.org/officeDocument/2006/relationships/image" Target="../media/image2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31608" y="31713"/>
            <a:ext cx="9885948" cy="3807558"/>
            <a:chOff x="221621" y="86960"/>
            <a:chExt cx="11487107" cy="5298165"/>
          </a:xfrm>
        </p:grpSpPr>
        <p:grpSp>
          <p:nvGrpSpPr>
            <p:cNvPr id="14" name="Group 13"/>
            <p:cNvGrpSpPr/>
            <p:nvPr/>
          </p:nvGrpSpPr>
          <p:grpSpPr>
            <a:xfrm>
              <a:off x="221621" y="86960"/>
              <a:ext cx="7671583" cy="4461151"/>
              <a:chOff x="221621" y="86960"/>
              <a:chExt cx="7671583" cy="4461151"/>
            </a:xfrm>
          </p:grpSpPr>
          <p:grpSp>
            <p:nvGrpSpPr>
              <p:cNvPr id="7" name="Group 6"/>
              <p:cNvGrpSpPr/>
              <p:nvPr/>
            </p:nvGrpSpPr>
            <p:grpSpPr>
              <a:xfrm>
                <a:off x="221621" y="806496"/>
                <a:ext cx="6583050" cy="3741615"/>
                <a:chOff x="156307" y="237328"/>
                <a:chExt cx="6583050" cy="3741615"/>
              </a:xfrm>
            </p:grpSpPr>
            <p:pic>
              <p:nvPicPr>
                <p:cNvPr id="5" name="Picture 4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6307" y="237328"/>
                  <a:ext cx="6583050" cy="3741615"/>
                </a:xfrm>
                <a:prstGeom prst="rect">
                  <a:avLst/>
                </a:prstGeom>
                <a:noFill/>
              </p:spPr>
            </p:pic>
            <p:sp>
              <p:nvSpPr>
                <p:cNvPr id="6" name="TextBox 5"/>
                <p:cNvSpPr txBox="1"/>
                <p:nvPr/>
              </p:nvSpPr>
              <p:spPr>
                <a:xfrm>
                  <a:off x="5036056" y="1339469"/>
                  <a:ext cx="1703301" cy="13039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600" b="1" dirty="0" smtClean="0"/>
                    <a:t>4,316 </a:t>
                  </a:r>
                  <a:r>
                    <a:rPr lang="en-US" sz="1600" b="1" dirty="0" err="1" smtClean="0"/>
                    <a:t>ptcpts</a:t>
                  </a:r>
                  <a:r>
                    <a:rPr lang="en-US" sz="1600" b="1" dirty="0" smtClean="0"/>
                    <a:t>. contributing 21,189 obs.</a:t>
                  </a:r>
                </a:p>
              </p:txBody>
            </p:sp>
          </p:grpSp>
          <p:sp>
            <p:nvSpPr>
              <p:cNvPr id="8" name="Title 1"/>
              <p:cNvSpPr txBox="1">
                <a:spLocks/>
              </p:cNvSpPr>
              <p:nvPr/>
            </p:nvSpPr>
            <p:spPr>
              <a:xfrm>
                <a:off x="221621" y="86960"/>
                <a:ext cx="7671583" cy="646331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3200" b="1" dirty="0" smtClean="0"/>
                  <a:t>Medication (MEDCODES) Database</a:t>
                </a:r>
                <a:endParaRPr lang="en-US" sz="3200" b="1" dirty="0"/>
              </a:p>
            </p:txBody>
          </p:sp>
        </p:grp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15480" y="244426"/>
              <a:ext cx="4593248" cy="5140699"/>
            </a:xfrm>
            <a:prstGeom prst="rect">
              <a:avLst/>
            </a:prstGeom>
          </p:spPr>
        </p:pic>
      </p:grpSp>
      <p:grpSp>
        <p:nvGrpSpPr>
          <p:cNvPr id="37" name="Group 36"/>
          <p:cNvGrpSpPr/>
          <p:nvPr/>
        </p:nvGrpSpPr>
        <p:grpSpPr>
          <a:xfrm>
            <a:off x="174107" y="3174770"/>
            <a:ext cx="8626994" cy="3683230"/>
            <a:chOff x="216065" y="2936816"/>
            <a:chExt cx="8742672" cy="3764604"/>
          </a:xfrm>
        </p:grpSpPr>
        <p:grpSp>
          <p:nvGrpSpPr>
            <p:cNvPr id="17" name="Group 16"/>
            <p:cNvGrpSpPr/>
            <p:nvPr/>
          </p:nvGrpSpPr>
          <p:grpSpPr>
            <a:xfrm>
              <a:off x="305598" y="3497667"/>
              <a:ext cx="6704526" cy="1814098"/>
              <a:chOff x="210216" y="245993"/>
              <a:chExt cx="9200255" cy="2864409"/>
            </a:xfrm>
          </p:grpSpPr>
          <p:pic>
            <p:nvPicPr>
              <p:cNvPr id="35" name="Picture 34"/>
              <p:cNvPicPr>
                <a:picLocks noChangeAspect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210216" y="245993"/>
                <a:ext cx="9200255" cy="2864409"/>
              </a:xfrm>
              <a:prstGeom prst="rect">
                <a:avLst/>
              </a:prstGeom>
            </p:spPr>
          </p:pic>
          <p:sp>
            <p:nvSpPr>
              <p:cNvPr id="36" name="TextBox 35"/>
              <p:cNvSpPr txBox="1"/>
              <p:nvPr/>
            </p:nvSpPr>
            <p:spPr>
              <a:xfrm>
                <a:off x="1486570" y="2564407"/>
                <a:ext cx="4646062" cy="53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 smtClean="0"/>
                  <a:t>5,284 </a:t>
                </a:r>
                <a:r>
                  <a:rPr lang="en-US" sz="1600" b="1" dirty="0" err="1" smtClean="0"/>
                  <a:t>ptcpts</a:t>
                </a:r>
                <a:r>
                  <a:rPr lang="en-US" sz="1600" b="1" dirty="0" smtClean="0"/>
                  <a:t>. surveyed 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216065" y="5162118"/>
              <a:ext cx="8742672" cy="1539302"/>
              <a:chOff x="542989" y="3635492"/>
              <a:chExt cx="9763198" cy="1726814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2246243" y="4332472"/>
                <a:ext cx="675861" cy="218121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0"/>
              <p:cNvGrpSpPr/>
              <p:nvPr/>
            </p:nvGrpSpPr>
            <p:grpSpPr>
              <a:xfrm>
                <a:off x="542989" y="3635492"/>
                <a:ext cx="9763198" cy="1726814"/>
                <a:chOff x="542989" y="3635492"/>
                <a:chExt cx="9763198" cy="1726814"/>
              </a:xfrm>
            </p:grpSpPr>
            <p:grpSp>
              <p:nvGrpSpPr>
                <p:cNvPr id="22" name="Group 21"/>
                <p:cNvGrpSpPr/>
                <p:nvPr/>
              </p:nvGrpSpPr>
              <p:grpSpPr>
                <a:xfrm>
                  <a:off x="542989" y="3635492"/>
                  <a:ext cx="3780952" cy="1676191"/>
                  <a:chOff x="4132385" y="3929677"/>
                  <a:chExt cx="3780952" cy="1676191"/>
                </a:xfrm>
              </p:grpSpPr>
              <p:pic>
                <p:nvPicPr>
                  <p:cNvPr id="30" name="Picture 29"/>
                  <p:cNvPicPr>
                    <a:picLocks noChangeAspect="1"/>
                  </p:cNvPicPr>
                  <p:nvPr/>
                </p:nvPicPr>
                <p:blipFill>
                  <a:blip r:embed="rId6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4132385" y="3929677"/>
                    <a:ext cx="3780952" cy="1676191"/>
                  </a:xfrm>
                  <a:prstGeom prst="rect">
                    <a:avLst/>
                  </a:prstGeom>
                </p:spPr>
              </p:pic>
              <p:sp>
                <p:nvSpPr>
                  <p:cNvPr id="31" name="Rectangle 30"/>
                  <p:cNvSpPr/>
                  <p:nvPr/>
                </p:nvSpPr>
                <p:spPr>
                  <a:xfrm>
                    <a:off x="6508185" y="4626658"/>
                    <a:ext cx="653354" cy="713739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2" name="Rectangle 31"/>
                  <p:cNvSpPr/>
                  <p:nvPr/>
                </p:nvSpPr>
                <p:spPr>
                  <a:xfrm>
                    <a:off x="5181587" y="5130323"/>
                    <a:ext cx="1326599" cy="210074"/>
                  </a:xfrm>
                  <a:prstGeom prst="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3" name="Rectangle 32"/>
                  <p:cNvSpPr/>
                  <p:nvPr/>
                </p:nvSpPr>
                <p:spPr>
                  <a:xfrm>
                    <a:off x="5185600" y="4844778"/>
                    <a:ext cx="1325899" cy="297068"/>
                  </a:xfrm>
                  <a:prstGeom prst="rect">
                    <a:avLst/>
                  </a:prstGeom>
                  <a:solidFill>
                    <a:srgbClr val="C00000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4" name="Rectangle 33"/>
                  <p:cNvSpPr/>
                  <p:nvPr/>
                </p:nvSpPr>
                <p:spPr>
                  <a:xfrm>
                    <a:off x="5185599" y="4626657"/>
                    <a:ext cx="650040" cy="218121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" name="Group 22"/>
                <p:cNvGrpSpPr/>
                <p:nvPr/>
              </p:nvGrpSpPr>
              <p:grpSpPr>
                <a:xfrm>
                  <a:off x="5103643" y="4105163"/>
                  <a:ext cx="5202544" cy="1257143"/>
                  <a:chOff x="4278695" y="5514114"/>
                  <a:chExt cx="5202544" cy="1257143"/>
                </a:xfrm>
              </p:grpSpPr>
              <p:pic>
                <p:nvPicPr>
                  <p:cNvPr id="25" name="Picture 24"/>
                  <p:cNvPicPr>
                    <a:picLocks noChangeAspect="1"/>
                  </p:cNvPicPr>
                  <p:nvPr/>
                </p:nvPicPr>
                <p:blipFill>
                  <a:blip r:embed="rId7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</a:blip>
                  <a:stretch>
                    <a:fillRect/>
                  </a:stretch>
                </p:blipFill>
                <p:spPr>
                  <a:xfrm>
                    <a:off x="4319334" y="5514114"/>
                    <a:ext cx="5161905" cy="1257143"/>
                  </a:xfrm>
                  <a:prstGeom prst="rect">
                    <a:avLst/>
                  </a:prstGeom>
                </p:spPr>
              </p:pic>
              <p:sp>
                <p:nvSpPr>
                  <p:cNvPr id="26" name="Rectangle 25"/>
                  <p:cNvSpPr/>
                  <p:nvPr/>
                </p:nvSpPr>
                <p:spPr>
                  <a:xfrm>
                    <a:off x="4282010" y="6261652"/>
                    <a:ext cx="5161905" cy="139148"/>
                  </a:xfrm>
                  <a:prstGeom prst="rect">
                    <a:avLst/>
                  </a:prstGeom>
                  <a:solidFill>
                    <a:schemeClr val="bg2">
                      <a:lumMod val="75000"/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" name="Rectangle 26"/>
                  <p:cNvSpPr/>
                  <p:nvPr/>
                </p:nvSpPr>
                <p:spPr>
                  <a:xfrm>
                    <a:off x="4285325" y="6105942"/>
                    <a:ext cx="5161905" cy="139148"/>
                  </a:xfrm>
                  <a:prstGeom prst="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4285325" y="5950232"/>
                    <a:ext cx="5161905" cy="139148"/>
                  </a:xfrm>
                  <a:prstGeom prst="rect">
                    <a:avLst/>
                  </a:prstGeom>
                  <a:solidFill>
                    <a:schemeClr val="accent1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" name="Rectangle 28"/>
                  <p:cNvSpPr/>
                  <p:nvPr/>
                </p:nvSpPr>
                <p:spPr>
                  <a:xfrm>
                    <a:off x="4278695" y="5797745"/>
                    <a:ext cx="5161905" cy="139148"/>
                  </a:xfrm>
                  <a:prstGeom prst="rect">
                    <a:avLst/>
                  </a:prstGeom>
                  <a:solidFill>
                    <a:srgbClr val="C00000">
                      <a:alpha val="50000"/>
                    </a:srgb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cxnSp>
              <p:nvCxnSpPr>
                <p:cNvPr id="24" name="Straight Arrow Connector 23"/>
                <p:cNvCxnSpPr/>
                <p:nvPr/>
              </p:nvCxnSpPr>
              <p:spPr>
                <a:xfrm flipV="1">
                  <a:off x="4427985" y="4690881"/>
                  <a:ext cx="556913" cy="3696"/>
                </a:xfrm>
                <a:prstGeom prst="straightConnector1">
                  <a:avLst/>
                </a:prstGeom>
                <a:ln w="254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221621" y="2936816"/>
              <a:ext cx="5630022" cy="41016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 smtClean="0">
                  <a:hlinkClick r:id="rId8"/>
                </a:rPr>
                <a:t>Medication Survey Form (</a:t>
              </a:r>
              <a:r>
                <a:rPr lang="en-US" sz="3200" b="1" dirty="0" err="1" smtClean="0">
                  <a:hlinkClick r:id="rId8"/>
                </a:rPr>
                <a:t>MSRa</a:t>
              </a:r>
              <a:r>
                <a:rPr lang="en-US" sz="3200" b="1" dirty="0" smtClean="0">
                  <a:hlinkClick r:id="rId8"/>
                </a:rPr>
                <a:t>)</a:t>
              </a:r>
              <a:endParaRPr lang="en-US" sz="3200" b="1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675455" y="2219465"/>
            <a:ext cx="248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How to practically approach imputing these values?</a:t>
            </a:r>
            <a:endParaRPr lang="en-US" sz="1600" b="1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6966619" y="1505815"/>
            <a:ext cx="2708836" cy="11365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8" idx="1"/>
          </p:cNvCxnSpPr>
          <p:nvPr/>
        </p:nvCxnSpPr>
        <p:spPr>
          <a:xfrm flipH="1">
            <a:off x="6966620" y="2634964"/>
            <a:ext cx="2708835" cy="8416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8284805" y="3714280"/>
            <a:ext cx="3771900" cy="2341456"/>
            <a:chOff x="8284805" y="3714280"/>
            <a:chExt cx="3771900" cy="2341456"/>
          </a:xfrm>
        </p:grpSpPr>
        <p:sp>
          <p:nvSpPr>
            <p:cNvPr id="11" name="Cloud 10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83734" y="4107389"/>
              <a:ext cx="248834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first two questions from the medication survey to determine why participant </a:t>
              </a:r>
              <a:r>
                <a:rPr lang="en-US" sz="1600" i="1" u="sng" dirty="0" smtClean="0"/>
                <a:t>did not appear in the medications database</a:t>
              </a:r>
              <a:r>
                <a:rPr lang="en-US" sz="1600" i="1" dirty="0" smtClean="0"/>
                <a:t>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4884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Meds Database + Self-Reported Accountability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1869405" y="1506402"/>
            <a:ext cx="3752381" cy="4552381"/>
            <a:chOff x="1346890" y="1386074"/>
            <a:chExt cx="3752381" cy="455238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346890" y="1386074"/>
              <a:ext cx="3752381" cy="4552381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1802701" y="5495528"/>
              <a:ext cx="2797291" cy="14016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2700" y="5351664"/>
              <a:ext cx="2797291" cy="140162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2699" y="5171681"/>
              <a:ext cx="2797291" cy="161127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826129" y="1365963"/>
            <a:ext cx="3761905" cy="4895238"/>
            <a:chOff x="6967575" y="1195984"/>
            <a:chExt cx="3761905" cy="4895238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967575" y="1195984"/>
              <a:ext cx="3761905" cy="4895238"/>
            </a:xfrm>
            <a:prstGeom prst="rect">
              <a:avLst/>
            </a:prstGeom>
          </p:spPr>
        </p:pic>
        <p:grpSp>
          <p:nvGrpSpPr>
            <p:cNvPr id="14" name="Group 13"/>
            <p:cNvGrpSpPr/>
            <p:nvPr/>
          </p:nvGrpSpPr>
          <p:grpSpPr>
            <a:xfrm>
              <a:off x="7393897" y="2199305"/>
              <a:ext cx="2797293" cy="3576327"/>
              <a:chOff x="7393897" y="2199305"/>
              <a:chExt cx="2797293" cy="3576327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8680383" y="2199305"/>
                <a:ext cx="610169" cy="732642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9294871" y="2410217"/>
                <a:ext cx="685800" cy="300518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9294871" y="2199305"/>
                <a:ext cx="685800" cy="210911"/>
              </a:xfrm>
              <a:prstGeom prst="rect">
                <a:avLst/>
              </a:prstGeom>
              <a:solidFill>
                <a:schemeClr val="bg2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9294871" y="2708510"/>
                <a:ext cx="685800" cy="223438"/>
              </a:xfrm>
              <a:prstGeom prst="rect">
                <a:avLst/>
              </a:prstGeom>
              <a:solidFill>
                <a:schemeClr val="bg2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7393899" y="5635470"/>
                <a:ext cx="2797291" cy="140162"/>
              </a:xfrm>
              <a:prstGeom prst="rect">
                <a:avLst/>
              </a:prstGeom>
              <a:solidFill>
                <a:schemeClr val="bg2">
                  <a:lumMod val="75000"/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7393898" y="5482081"/>
                <a:ext cx="2797291" cy="140162"/>
              </a:xfrm>
              <a:prstGeom prst="rect">
                <a:avLst/>
              </a:prstGeom>
              <a:solidFill>
                <a:schemeClr val="accent6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7393897" y="5310355"/>
                <a:ext cx="2797291" cy="152870"/>
              </a:xfrm>
              <a:prstGeom prst="rect">
                <a:avLst/>
              </a:prstGeom>
              <a:solidFill>
                <a:srgbClr val="C0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2" name="Rectangle 21"/>
          <p:cNvSpPr/>
          <p:nvPr/>
        </p:nvSpPr>
        <p:spPr>
          <a:xfrm>
            <a:off x="3587055" y="2342647"/>
            <a:ext cx="610169" cy="73264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201542" y="2342579"/>
            <a:ext cx="685800" cy="210911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200153" y="2851851"/>
            <a:ext cx="685800" cy="22343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6701" y="2551333"/>
            <a:ext cx="685800" cy="30051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51829" y="1574214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Only update missing values</a:t>
            </a:r>
            <a:endParaRPr lang="en-US" sz="1600" b="1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4791075" y="1912768"/>
            <a:ext cx="1035054" cy="240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769978" y="1912768"/>
            <a:ext cx="1834232" cy="3160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0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How do these compare to self-reports?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34" y="1187704"/>
            <a:ext cx="6517121" cy="5328705"/>
          </a:xfrm>
          <a:prstGeom prst="rect">
            <a:avLst/>
          </a:prstGeom>
        </p:spPr>
      </p:pic>
      <p:grpSp>
        <p:nvGrpSpPr>
          <p:cNvPr id="17" name="Group 16"/>
          <p:cNvGrpSpPr/>
          <p:nvPr/>
        </p:nvGrpSpPr>
        <p:grpSpPr>
          <a:xfrm>
            <a:off x="7266879" y="3924301"/>
            <a:ext cx="3886200" cy="2803970"/>
            <a:chOff x="7266879" y="3924301"/>
            <a:chExt cx="3886200" cy="2803970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266879" y="3924301"/>
              <a:ext cx="3886200" cy="2803970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9949138" y="5572125"/>
              <a:ext cx="548640" cy="402591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9391323" y="5193392"/>
              <a:ext cx="548640" cy="378733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117401" y="854321"/>
            <a:ext cx="3886200" cy="3130280"/>
            <a:chOff x="7117401" y="854321"/>
            <a:chExt cx="3886200" cy="313028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117401" y="854321"/>
              <a:ext cx="3886200" cy="3130280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9543700" y="2615938"/>
              <a:ext cx="685800" cy="465498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858152" y="2160832"/>
              <a:ext cx="685800" cy="455105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924800" y="3081436"/>
              <a:ext cx="935591" cy="458426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7935178" y="5964917"/>
            <a:ext cx="1465670" cy="38825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1732063" y="2851936"/>
            <a:ext cx="3771900" cy="2341456"/>
            <a:chOff x="8284805" y="3714280"/>
            <a:chExt cx="3771900" cy="2341456"/>
          </a:xfrm>
        </p:grpSpPr>
        <p:sp>
          <p:nvSpPr>
            <p:cNvPr id="20" name="Cloud 19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83734" y="4107389"/>
              <a:ext cx="24883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medication-specific queries on the medication survey when our </a:t>
              </a:r>
              <a:r>
                <a:rPr lang="en-US" sz="1600" i="1" u="sng" dirty="0" smtClean="0"/>
                <a:t>previous efforts are unsuccessful</a:t>
              </a:r>
              <a:r>
                <a:rPr lang="en-US" sz="1600" i="1" dirty="0" smtClean="0"/>
                <a:t> in classifying medication use.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4761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505" y="4128842"/>
            <a:ext cx="3886200" cy="26021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18580" y="4046792"/>
            <a:ext cx="3886200" cy="27498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Meds Database + Self-Reported Accountability + Self-Reported Medication Use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48625" y="1143001"/>
            <a:ext cx="3886200" cy="2803970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1811" y="952764"/>
            <a:ext cx="3886200" cy="31302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219735" y="2248494"/>
            <a:ext cx="659578" cy="140678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447924" y="3190875"/>
            <a:ext cx="771811" cy="45719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592946" y="3181350"/>
            <a:ext cx="854978" cy="46672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590675" y="2248494"/>
            <a:ext cx="1629060" cy="464402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590676" y="2722420"/>
            <a:ext cx="1626788" cy="46845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7800975" y="2411176"/>
            <a:ext cx="2064653" cy="37964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7800975" y="2789095"/>
            <a:ext cx="2064653" cy="39225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7800975" y="3190873"/>
            <a:ext cx="1419330" cy="377923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9222577" y="3190873"/>
            <a:ext cx="643051" cy="377922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9867900" y="2411176"/>
            <a:ext cx="521603" cy="1157619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724686" y="3371850"/>
            <a:ext cx="2490614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34211" y="2981325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missing values</a:t>
            </a:r>
            <a:endParaRPr lang="en-US" sz="1600" b="1" dirty="0"/>
          </a:p>
        </p:txBody>
      </p:sp>
      <p:sp>
        <p:nvSpPr>
          <p:cNvPr id="50" name="Rectangle 49"/>
          <p:cNvSpPr/>
          <p:nvPr/>
        </p:nvSpPr>
        <p:spPr>
          <a:xfrm>
            <a:off x="1800225" y="5998743"/>
            <a:ext cx="2853134" cy="2020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8248457" y="6041282"/>
            <a:ext cx="2853134" cy="20203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1800225" y="5800258"/>
            <a:ext cx="2852928" cy="20116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239047" y="5838107"/>
            <a:ext cx="2852928" cy="20116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1802796" y="6198092"/>
            <a:ext cx="2852928" cy="20116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8248572" y="6241774"/>
            <a:ext cx="2852928" cy="20116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3816625" y="2454895"/>
            <a:ext cx="6289482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64211" y="1902525"/>
            <a:ext cx="2488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discordant information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96367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201321" y="5659732"/>
            <a:ext cx="4562856" cy="943160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2465" y="4796476"/>
            <a:ext cx="3337560" cy="198687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3101" y="3639222"/>
            <a:ext cx="6620256" cy="16104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82586" y="17878"/>
            <a:ext cx="3694176" cy="4075238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31608" y="31713"/>
            <a:ext cx="6602260" cy="3206033"/>
            <a:chOff x="221621" y="86960"/>
            <a:chExt cx="7671583" cy="4461151"/>
          </a:xfrm>
        </p:grpSpPr>
        <p:grpSp>
          <p:nvGrpSpPr>
            <p:cNvPr id="7" name="Group 6"/>
            <p:cNvGrpSpPr/>
            <p:nvPr/>
          </p:nvGrpSpPr>
          <p:grpSpPr>
            <a:xfrm>
              <a:off x="221621" y="806496"/>
              <a:ext cx="6583050" cy="3741615"/>
              <a:chOff x="156307" y="237328"/>
              <a:chExt cx="6583050" cy="3741615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307" y="237328"/>
                <a:ext cx="6583050" cy="3741615"/>
              </a:xfrm>
              <a:prstGeom prst="rect">
                <a:avLst/>
              </a:prstGeom>
              <a:noFill/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036056" y="1339469"/>
                <a:ext cx="1703301" cy="1156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 smtClean="0"/>
                  <a:t>3,814 </a:t>
                </a:r>
                <a:r>
                  <a:rPr lang="en-US" sz="1600" b="1" dirty="0" err="1" smtClean="0"/>
                  <a:t>ptcpts</a:t>
                </a:r>
                <a:r>
                  <a:rPr lang="en-US" sz="1600" b="1" dirty="0" smtClean="0"/>
                  <a:t>. contributing 20,933 obs.</a:t>
                </a:r>
              </a:p>
            </p:txBody>
          </p:sp>
        </p:grpSp>
        <p:sp>
          <p:nvSpPr>
            <p:cNvPr id="8" name="Title 1"/>
            <p:cNvSpPr txBox="1">
              <a:spLocks/>
            </p:cNvSpPr>
            <p:nvPr/>
          </p:nvSpPr>
          <p:spPr>
            <a:xfrm>
              <a:off x="221621" y="86960"/>
              <a:ext cx="7671583" cy="64633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 smtClean="0"/>
                <a:t>Medication (MEDCODES) Database</a:t>
              </a:r>
              <a:endParaRPr lang="en-US" sz="32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79589" y="3191864"/>
            <a:ext cx="8591461" cy="3321037"/>
            <a:chOff x="221621" y="3041636"/>
            <a:chExt cx="8706662" cy="3394407"/>
          </a:xfrm>
        </p:grpSpPr>
        <p:sp>
          <p:nvSpPr>
            <p:cNvPr id="36" name="TextBox 35"/>
            <p:cNvSpPr txBox="1"/>
            <p:nvPr/>
          </p:nvSpPr>
          <p:spPr>
            <a:xfrm>
              <a:off x="1235719" y="4965973"/>
              <a:ext cx="3385737" cy="3460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4,195 </a:t>
              </a:r>
              <a:r>
                <a:rPr lang="en-US" sz="1600" b="1" dirty="0" err="1" smtClean="0"/>
                <a:t>ptcpts</a:t>
              </a:r>
              <a:r>
                <a:rPr lang="en-US" sz="1600" b="1" dirty="0" smtClean="0"/>
                <a:t>. surveyed 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156292" y="5749629"/>
              <a:ext cx="7771991" cy="686414"/>
              <a:chOff x="1592968" y="4294569"/>
              <a:chExt cx="8679210" cy="770030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592968" y="4294569"/>
                <a:ext cx="2798058" cy="770030"/>
                <a:chOff x="5182364" y="4588754"/>
                <a:chExt cx="2798058" cy="770030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5185999" y="4588754"/>
                  <a:ext cx="2794039" cy="210074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5182364" y="4798873"/>
                  <a:ext cx="2794039" cy="348014"/>
                </a:xfrm>
                <a:prstGeom prst="rect">
                  <a:avLst/>
                </a:prstGeom>
                <a:solidFill>
                  <a:srgbClr val="C000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5186383" y="5146887"/>
                  <a:ext cx="2794039" cy="211897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/>
              <p:cNvGrpSpPr/>
              <p:nvPr/>
            </p:nvGrpSpPr>
            <p:grpSpPr>
              <a:xfrm>
                <a:off x="5103643" y="4388794"/>
                <a:ext cx="5168535" cy="475669"/>
                <a:chOff x="4278695" y="5797745"/>
                <a:chExt cx="5168535" cy="475669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4282010" y="6134266"/>
                  <a:ext cx="5161905" cy="139148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4285325" y="5958959"/>
                  <a:ext cx="5161905" cy="139148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4278695" y="5797745"/>
                  <a:ext cx="5161905" cy="139148"/>
                </a:xfrm>
                <a:prstGeom prst="rect">
                  <a:avLst/>
                </a:prstGeom>
                <a:solidFill>
                  <a:srgbClr val="C000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4" name="Straight Arrow Connector 23"/>
              <p:cNvCxnSpPr/>
              <p:nvPr/>
            </p:nvCxnSpPr>
            <p:spPr>
              <a:xfrm flipV="1">
                <a:off x="4427985" y="4690881"/>
                <a:ext cx="556913" cy="369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221621" y="3041636"/>
              <a:ext cx="5630022" cy="41016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 smtClean="0">
                  <a:hlinkClick r:id="rId8"/>
                </a:rPr>
                <a:t>Medication Survey Form (</a:t>
              </a:r>
              <a:r>
                <a:rPr lang="en-US" sz="3200" b="1" dirty="0" err="1" smtClean="0">
                  <a:hlinkClick r:id="rId8"/>
                </a:rPr>
                <a:t>MSRb</a:t>
              </a:r>
              <a:r>
                <a:rPr lang="en-US" sz="3200" b="1" dirty="0" smtClean="0">
                  <a:hlinkClick r:id="rId8"/>
                </a:rPr>
                <a:t>)</a:t>
              </a:r>
              <a:endParaRPr lang="en-US" sz="3200" b="1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675455" y="2219465"/>
            <a:ext cx="248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How to practically approach imputing these values?</a:t>
            </a:r>
            <a:endParaRPr lang="en-US" sz="1600" b="1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7502678" y="1562893"/>
            <a:ext cx="2172777" cy="10794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8" idx="1"/>
          </p:cNvCxnSpPr>
          <p:nvPr/>
        </p:nvCxnSpPr>
        <p:spPr>
          <a:xfrm flipH="1">
            <a:off x="7502678" y="2634964"/>
            <a:ext cx="2172777" cy="1046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8537249" y="3876651"/>
            <a:ext cx="3587824" cy="2341456"/>
            <a:chOff x="8284805" y="3714280"/>
            <a:chExt cx="3771900" cy="2341456"/>
          </a:xfrm>
        </p:grpSpPr>
        <p:sp>
          <p:nvSpPr>
            <p:cNvPr id="11" name="Cloud 10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83734" y="4107389"/>
              <a:ext cx="248834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first two questions from the medication survey to determine why participant </a:t>
              </a:r>
              <a:r>
                <a:rPr lang="en-US" sz="1600" i="1" u="sng" dirty="0" smtClean="0"/>
                <a:t>did not appear in the medications database</a:t>
              </a:r>
              <a:r>
                <a:rPr lang="en-US" sz="1600" i="1" dirty="0" smtClean="0"/>
                <a:t>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0506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16524" y="1371189"/>
            <a:ext cx="3758184" cy="47024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0478" y="1516304"/>
            <a:ext cx="3749040" cy="43597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Meds Database + Self-Reported Accountability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325214" y="5104000"/>
            <a:ext cx="2797293" cy="464009"/>
            <a:chOff x="1802699" y="5171681"/>
            <a:chExt cx="2797293" cy="464009"/>
          </a:xfrm>
        </p:grpSpPr>
        <p:sp>
          <p:nvSpPr>
            <p:cNvPr id="9" name="Rectangle 8"/>
            <p:cNvSpPr/>
            <p:nvPr/>
          </p:nvSpPr>
          <p:spPr>
            <a:xfrm>
              <a:off x="1802701" y="5495528"/>
              <a:ext cx="2797291" cy="14016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2700" y="5351664"/>
              <a:ext cx="2797291" cy="140162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2699" y="5171681"/>
              <a:ext cx="2797291" cy="161127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252451" y="2392512"/>
            <a:ext cx="2797293" cy="3373636"/>
            <a:chOff x="7393897" y="2222533"/>
            <a:chExt cx="2797293" cy="3373636"/>
          </a:xfrm>
        </p:grpSpPr>
        <p:sp>
          <p:nvSpPr>
            <p:cNvPr id="15" name="Rectangle 14"/>
            <p:cNvSpPr/>
            <p:nvPr/>
          </p:nvSpPr>
          <p:spPr>
            <a:xfrm>
              <a:off x="8455979" y="2223876"/>
              <a:ext cx="838155" cy="459616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294871" y="2377785"/>
              <a:ext cx="685800" cy="150259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294871" y="2222533"/>
              <a:ext cx="685800" cy="15679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94871" y="2528044"/>
              <a:ext cx="685800" cy="153909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93899" y="5456007"/>
              <a:ext cx="2797291" cy="14016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93898" y="5302618"/>
              <a:ext cx="2797291" cy="140162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393897" y="5130892"/>
              <a:ext cx="2797291" cy="152870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3367044" y="2393855"/>
            <a:ext cx="828790" cy="4596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92996" y="2393855"/>
            <a:ext cx="685800" cy="15544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200153" y="2698023"/>
            <a:ext cx="685800" cy="15544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6701" y="2542787"/>
            <a:ext cx="685800" cy="15544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51829" y="1574214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Only update missing values</a:t>
            </a:r>
            <a:endParaRPr lang="en-US" sz="1600" b="1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4791075" y="1912768"/>
            <a:ext cx="1035054" cy="240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769978" y="1912768"/>
            <a:ext cx="1834232" cy="3160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688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82526" y="3962749"/>
            <a:ext cx="3886200" cy="27441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48342" y="1052576"/>
            <a:ext cx="4049197" cy="27364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How do these compare to self-reports?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8219352" y="2214600"/>
            <a:ext cx="2407779" cy="1210910"/>
            <a:chOff x="8219352" y="2214600"/>
            <a:chExt cx="2407779" cy="1210910"/>
          </a:xfrm>
        </p:grpSpPr>
        <p:sp>
          <p:nvSpPr>
            <p:cNvPr id="7" name="Rectangle 6"/>
            <p:cNvSpPr/>
            <p:nvPr/>
          </p:nvSpPr>
          <p:spPr>
            <a:xfrm>
              <a:off x="8219352" y="2620838"/>
              <a:ext cx="457200" cy="402336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832514" y="2214600"/>
              <a:ext cx="457200" cy="400413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554198" y="3023174"/>
              <a:ext cx="1072933" cy="402336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36199" y="4482360"/>
            <a:ext cx="3771900" cy="2341456"/>
            <a:chOff x="8284805" y="3714280"/>
            <a:chExt cx="3771900" cy="2341456"/>
          </a:xfrm>
        </p:grpSpPr>
        <p:sp>
          <p:nvSpPr>
            <p:cNvPr id="20" name="Cloud 19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83734" y="4107389"/>
              <a:ext cx="24883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medication-specific queries on the medication survey when our </a:t>
              </a:r>
              <a:r>
                <a:rPr lang="en-US" sz="1600" i="1" u="sng" dirty="0" smtClean="0"/>
                <a:t>previous efforts are unsuccessful</a:t>
              </a:r>
              <a:r>
                <a:rPr lang="en-US" sz="1600" i="1" dirty="0" smtClean="0"/>
                <a:t> in classifying medication use.</a:t>
              </a:r>
              <a:endParaRPr lang="en-US" sz="1600" i="1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593" y="1225282"/>
            <a:ext cx="6519672" cy="348609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467316" y="5961504"/>
            <a:ext cx="1072933" cy="402336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828248" y="5179504"/>
            <a:ext cx="457200" cy="40041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147010" y="5571561"/>
            <a:ext cx="457200" cy="40233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79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1044" y="903713"/>
            <a:ext cx="4282511" cy="57881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54658" y="974819"/>
            <a:ext cx="4533333" cy="579047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Meds Database + Self-Reported Accountability + Self-Reported Medication Use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1581499" y="2264453"/>
            <a:ext cx="584457" cy="137317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159434" y="3174344"/>
            <a:ext cx="854659" cy="44907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016365" y="3177110"/>
            <a:ext cx="1231107" cy="45766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159434" y="2257652"/>
            <a:ext cx="2088038" cy="451365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62530" y="2715637"/>
            <a:ext cx="2084942" cy="45485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987991" y="3371850"/>
            <a:ext cx="25494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76941" y="2981325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missing values</a:t>
            </a:r>
            <a:endParaRPr lang="en-US" sz="1600" b="1" dirty="0"/>
          </a:p>
        </p:txBody>
      </p:sp>
      <p:sp>
        <p:nvSpPr>
          <p:cNvPr id="50" name="Rectangle 49"/>
          <p:cNvSpPr/>
          <p:nvPr/>
        </p:nvSpPr>
        <p:spPr>
          <a:xfrm>
            <a:off x="877280" y="6144023"/>
            <a:ext cx="2853134" cy="1463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877280" y="5988268"/>
            <a:ext cx="2852928" cy="14154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79851" y="6309188"/>
            <a:ext cx="2852928" cy="146304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042445" y="2480533"/>
            <a:ext cx="6058968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64211" y="1902525"/>
            <a:ext cx="2488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discordant information</a:t>
            </a:r>
            <a:endParaRPr lang="en-US" sz="1600" b="1" dirty="0"/>
          </a:p>
        </p:txBody>
      </p:sp>
      <p:sp>
        <p:nvSpPr>
          <p:cNvPr id="45" name="Rectangle 44"/>
          <p:cNvSpPr/>
          <p:nvPr/>
        </p:nvSpPr>
        <p:spPr>
          <a:xfrm>
            <a:off x="7912466" y="2283381"/>
            <a:ext cx="584457" cy="128596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490401" y="3140251"/>
            <a:ext cx="854659" cy="43110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9347332" y="3143018"/>
            <a:ext cx="1231107" cy="426330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8490401" y="2283381"/>
            <a:ext cx="2088038" cy="432255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8493497" y="2703415"/>
            <a:ext cx="2084942" cy="43298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290978" y="6098886"/>
            <a:ext cx="2853134" cy="1463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290978" y="5943131"/>
            <a:ext cx="2852928" cy="14154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7293549" y="6264051"/>
            <a:ext cx="2852928" cy="146304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922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98945" y="5681261"/>
            <a:ext cx="4572000" cy="9195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3691" y="4507179"/>
            <a:ext cx="3091888" cy="23166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49" y="3673875"/>
            <a:ext cx="6620256" cy="154265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56590" y="26407"/>
            <a:ext cx="3694176" cy="4076332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131608" y="31713"/>
            <a:ext cx="6602260" cy="3206033"/>
            <a:chOff x="221621" y="86960"/>
            <a:chExt cx="7671583" cy="4461151"/>
          </a:xfrm>
        </p:grpSpPr>
        <p:grpSp>
          <p:nvGrpSpPr>
            <p:cNvPr id="7" name="Group 6"/>
            <p:cNvGrpSpPr/>
            <p:nvPr/>
          </p:nvGrpSpPr>
          <p:grpSpPr>
            <a:xfrm>
              <a:off x="221621" y="806496"/>
              <a:ext cx="6583050" cy="3741615"/>
              <a:chOff x="156307" y="237328"/>
              <a:chExt cx="6583050" cy="3741615"/>
            </a:xfrm>
          </p:grpSpPr>
          <p:pic>
            <p:nvPicPr>
              <p:cNvPr id="5" name="Picture 4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307" y="237328"/>
                <a:ext cx="6583050" cy="3741615"/>
              </a:xfrm>
              <a:prstGeom prst="rect">
                <a:avLst/>
              </a:prstGeom>
              <a:noFill/>
            </p:spPr>
          </p:pic>
          <p:sp>
            <p:nvSpPr>
              <p:cNvPr id="6" name="TextBox 5"/>
              <p:cNvSpPr txBox="1"/>
              <p:nvPr/>
            </p:nvSpPr>
            <p:spPr>
              <a:xfrm>
                <a:off x="5036056" y="1339469"/>
                <a:ext cx="1703301" cy="1156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 smtClean="0"/>
                  <a:t>3,574 </a:t>
                </a:r>
                <a:r>
                  <a:rPr lang="en-US" sz="1600" b="1" dirty="0" err="1" smtClean="0"/>
                  <a:t>ptcpts</a:t>
                </a:r>
                <a:r>
                  <a:rPr lang="en-US" sz="1600" b="1" dirty="0" smtClean="0"/>
                  <a:t>. contributing 21,472 obs.</a:t>
                </a:r>
              </a:p>
            </p:txBody>
          </p:sp>
        </p:grpSp>
        <p:sp>
          <p:nvSpPr>
            <p:cNvPr id="8" name="Title 1"/>
            <p:cNvSpPr txBox="1">
              <a:spLocks/>
            </p:cNvSpPr>
            <p:nvPr/>
          </p:nvSpPr>
          <p:spPr>
            <a:xfrm>
              <a:off x="221621" y="86960"/>
              <a:ext cx="7671583" cy="646331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 smtClean="0"/>
                <a:t>Medication (MEDCODES) Database</a:t>
              </a:r>
              <a:endParaRPr lang="en-US" sz="3200" b="1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179589" y="3191864"/>
            <a:ext cx="8591461" cy="3354914"/>
            <a:chOff x="221621" y="3041636"/>
            <a:chExt cx="8706662" cy="3429031"/>
          </a:xfrm>
        </p:grpSpPr>
        <p:sp>
          <p:nvSpPr>
            <p:cNvPr id="36" name="TextBox 35"/>
            <p:cNvSpPr txBox="1"/>
            <p:nvPr/>
          </p:nvSpPr>
          <p:spPr>
            <a:xfrm>
              <a:off x="1235719" y="4965974"/>
              <a:ext cx="3385737" cy="3460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 smtClean="0"/>
                <a:t>3,813 </a:t>
              </a:r>
              <a:r>
                <a:rPr lang="en-US" sz="1600" b="1" dirty="0" err="1" smtClean="0"/>
                <a:t>ptcpts</a:t>
              </a:r>
              <a:r>
                <a:rPr lang="en-US" sz="1600" b="1" dirty="0" smtClean="0"/>
                <a:t>. surveyed </a:t>
              </a: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1112989" y="5671011"/>
              <a:ext cx="7815294" cy="799656"/>
              <a:chOff x="1544610" y="4206378"/>
              <a:chExt cx="8727568" cy="897067"/>
            </a:xfrm>
          </p:grpSpPr>
          <p:grpSp>
            <p:nvGrpSpPr>
              <p:cNvPr id="22" name="Group 21"/>
              <p:cNvGrpSpPr/>
              <p:nvPr/>
            </p:nvGrpSpPr>
            <p:grpSpPr>
              <a:xfrm>
                <a:off x="1544610" y="4206378"/>
                <a:ext cx="2798059" cy="897067"/>
                <a:chOff x="5134006" y="4500563"/>
                <a:chExt cx="2798059" cy="897067"/>
              </a:xfrm>
            </p:grpSpPr>
            <p:sp>
              <p:nvSpPr>
                <p:cNvPr id="32" name="Rectangle 31"/>
                <p:cNvSpPr/>
                <p:nvPr/>
              </p:nvSpPr>
              <p:spPr>
                <a:xfrm>
                  <a:off x="5137640" y="4500563"/>
                  <a:ext cx="2794038" cy="210074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5134006" y="4710683"/>
                  <a:ext cx="2794040" cy="348014"/>
                </a:xfrm>
                <a:prstGeom prst="rect">
                  <a:avLst/>
                </a:prstGeom>
                <a:solidFill>
                  <a:srgbClr val="C000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5138026" y="5058698"/>
                  <a:ext cx="2794039" cy="338932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3" name="Group 22"/>
              <p:cNvGrpSpPr/>
              <p:nvPr/>
            </p:nvGrpSpPr>
            <p:grpSpPr>
              <a:xfrm>
                <a:off x="5103643" y="4388794"/>
                <a:ext cx="5168535" cy="475669"/>
                <a:chOff x="4278695" y="5797745"/>
                <a:chExt cx="5168535" cy="475669"/>
              </a:xfrm>
            </p:grpSpPr>
            <p:sp>
              <p:nvSpPr>
                <p:cNvPr id="26" name="Rectangle 25"/>
                <p:cNvSpPr/>
                <p:nvPr/>
              </p:nvSpPr>
              <p:spPr>
                <a:xfrm>
                  <a:off x="4282010" y="6134266"/>
                  <a:ext cx="5161905" cy="139148"/>
                </a:xfrm>
                <a:prstGeom prst="rect">
                  <a:avLst/>
                </a:prstGeom>
                <a:solidFill>
                  <a:schemeClr val="bg2">
                    <a:lumMod val="75000"/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7" name="Rectangle 26"/>
                <p:cNvSpPr/>
                <p:nvPr/>
              </p:nvSpPr>
              <p:spPr>
                <a:xfrm>
                  <a:off x="4285325" y="5958959"/>
                  <a:ext cx="5161905" cy="139148"/>
                </a:xfrm>
                <a:prstGeom prst="rect">
                  <a:avLst/>
                </a:prstGeom>
                <a:solidFill>
                  <a:schemeClr val="accent6">
                    <a:alpha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/>
                <p:cNvSpPr/>
                <p:nvPr/>
              </p:nvSpPr>
              <p:spPr>
                <a:xfrm>
                  <a:off x="4278695" y="5797745"/>
                  <a:ext cx="5161905" cy="139148"/>
                </a:xfrm>
                <a:prstGeom prst="rect">
                  <a:avLst/>
                </a:prstGeom>
                <a:solidFill>
                  <a:srgbClr val="C00000">
                    <a:alpha val="50000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24" name="Straight Arrow Connector 23"/>
              <p:cNvCxnSpPr/>
              <p:nvPr/>
            </p:nvCxnSpPr>
            <p:spPr>
              <a:xfrm flipV="1">
                <a:off x="4427985" y="4690881"/>
                <a:ext cx="556913" cy="3696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Title 1"/>
            <p:cNvSpPr txBox="1">
              <a:spLocks/>
            </p:cNvSpPr>
            <p:nvPr/>
          </p:nvSpPr>
          <p:spPr>
            <a:xfrm>
              <a:off x="221621" y="3041636"/>
              <a:ext cx="5630022" cy="410160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sz="3200" b="1" dirty="0" smtClean="0">
                  <a:hlinkClick r:id="rId8"/>
                </a:rPr>
                <a:t>Medication Survey Form (</a:t>
              </a:r>
              <a:r>
                <a:rPr lang="en-US" sz="3200" b="1" dirty="0" err="1" smtClean="0">
                  <a:hlinkClick r:id="rId8"/>
                </a:rPr>
                <a:t>MSRc</a:t>
              </a:r>
              <a:r>
                <a:rPr lang="en-US" sz="3200" b="1" dirty="0" smtClean="0">
                  <a:hlinkClick r:id="rId8"/>
                </a:rPr>
                <a:t>)</a:t>
              </a:r>
              <a:endParaRPr lang="en-US" sz="3200" b="1" dirty="0"/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9675455" y="2219465"/>
            <a:ext cx="24883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How to practically approach imputing these values?</a:t>
            </a:r>
            <a:endParaRPr lang="en-US" sz="1600" b="1" dirty="0"/>
          </a:p>
        </p:txBody>
      </p:sp>
      <p:cxnSp>
        <p:nvCxnSpPr>
          <p:cNvPr id="39" name="Straight Arrow Connector 38"/>
          <p:cNvCxnSpPr/>
          <p:nvPr/>
        </p:nvCxnSpPr>
        <p:spPr>
          <a:xfrm flipH="1" flipV="1">
            <a:off x="7502678" y="1562893"/>
            <a:ext cx="2172777" cy="107942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38" idx="1"/>
          </p:cNvCxnSpPr>
          <p:nvPr/>
        </p:nvCxnSpPr>
        <p:spPr>
          <a:xfrm flipH="1">
            <a:off x="7502678" y="2634964"/>
            <a:ext cx="2172777" cy="10462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>
            <a:off x="8537249" y="3876651"/>
            <a:ext cx="3587824" cy="2341456"/>
            <a:chOff x="8284805" y="3714280"/>
            <a:chExt cx="3771900" cy="2341456"/>
          </a:xfrm>
        </p:grpSpPr>
        <p:sp>
          <p:nvSpPr>
            <p:cNvPr id="11" name="Cloud 10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8983734" y="4107389"/>
              <a:ext cx="2488342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first two questions from the medication survey to determine why participant </a:t>
              </a:r>
              <a:r>
                <a:rPr lang="en-US" sz="1600" i="1" u="sng" dirty="0" smtClean="0"/>
                <a:t>did not appear in the medications database</a:t>
              </a:r>
              <a:r>
                <a:rPr lang="en-US" sz="1600" i="1" dirty="0" smtClean="0"/>
                <a:t>.</a:t>
              </a:r>
              <a:endParaRPr lang="en-US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1714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12135" y="1367176"/>
            <a:ext cx="3758184" cy="46764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55005" y="1522404"/>
            <a:ext cx="3749040" cy="437074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Meds Database + Self-Reported Accountability</a:t>
            </a: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2325214" y="5104000"/>
            <a:ext cx="2797293" cy="464009"/>
            <a:chOff x="1802699" y="5171681"/>
            <a:chExt cx="2797293" cy="464009"/>
          </a:xfrm>
        </p:grpSpPr>
        <p:sp>
          <p:nvSpPr>
            <p:cNvPr id="9" name="Rectangle 8"/>
            <p:cNvSpPr/>
            <p:nvPr/>
          </p:nvSpPr>
          <p:spPr>
            <a:xfrm>
              <a:off x="1802701" y="5495528"/>
              <a:ext cx="2797291" cy="14016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02700" y="5351664"/>
              <a:ext cx="2797291" cy="140162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02699" y="5171681"/>
              <a:ext cx="2797291" cy="161127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252451" y="2392512"/>
            <a:ext cx="2797293" cy="3373636"/>
            <a:chOff x="7393897" y="2222533"/>
            <a:chExt cx="2797293" cy="3373636"/>
          </a:xfrm>
        </p:grpSpPr>
        <p:sp>
          <p:nvSpPr>
            <p:cNvPr id="15" name="Rectangle 14"/>
            <p:cNvSpPr/>
            <p:nvPr/>
          </p:nvSpPr>
          <p:spPr>
            <a:xfrm>
              <a:off x="8455979" y="2223876"/>
              <a:ext cx="838155" cy="459616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9294871" y="2377785"/>
              <a:ext cx="685800" cy="150259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9294871" y="2222533"/>
              <a:ext cx="685800" cy="15679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9294871" y="2528044"/>
              <a:ext cx="685800" cy="153909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393899" y="5456007"/>
              <a:ext cx="2797291" cy="140162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393898" y="5302618"/>
              <a:ext cx="2797291" cy="140162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7393897" y="5130892"/>
              <a:ext cx="2797291" cy="152870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/>
          <p:cNvSpPr/>
          <p:nvPr/>
        </p:nvSpPr>
        <p:spPr>
          <a:xfrm>
            <a:off x="3367044" y="2393855"/>
            <a:ext cx="828790" cy="45961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192996" y="2393855"/>
            <a:ext cx="685800" cy="15544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4200153" y="2698023"/>
            <a:ext cx="685800" cy="155448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4196701" y="2542787"/>
            <a:ext cx="685800" cy="155448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851829" y="1574214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Only update missing values</a:t>
            </a:r>
            <a:endParaRPr lang="en-US" sz="1600" b="1" dirty="0"/>
          </a:p>
        </p:txBody>
      </p:sp>
      <p:cxnSp>
        <p:nvCxnSpPr>
          <p:cNvPr id="28" name="Straight Arrow Connector 27"/>
          <p:cNvCxnSpPr/>
          <p:nvPr/>
        </p:nvCxnSpPr>
        <p:spPr>
          <a:xfrm flipH="1">
            <a:off x="4791075" y="1912768"/>
            <a:ext cx="1035054" cy="24076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6769978" y="1912768"/>
            <a:ext cx="1834232" cy="31608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1030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91072" y="3971498"/>
            <a:ext cx="3886200" cy="272687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43872" y="1072466"/>
            <a:ext cx="4050792" cy="272042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How do these compare to self-reports?</a:t>
            </a:r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8219352" y="2214600"/>
            <a:ext cx="2407779" cy="1210910"/>
            <a:chOff x="8219352" y="2214600"/>
            <a:chExt cx="2407779" cy="1210910"/>
          </a:xfrm>
        </p:grpSpPr>
        <p:sp>
          <p:nvSpPr>
            <p:cNvPr id="7" name="Rectangle 6"/>
            <p:cNvSpPr/>
            <p:nvPr/>
          </p:nvSpPr>
          <p:spPr>
            <a:xfrm>
              <a:off x="8219352" y="2620838"/>
              <a:ext cx="457200" cy="402336"/>
            </a:xfrm>
            <a:prstGeom prst="rect">
              <a:avLst/>
            </a:prstGeom>
            <a:solidFill>
              <a:schemeClr val="accent6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8832514" y="2214600"/>
              <a:ext cx="457200" cy="400413"/>
            </a:xfrm>
            <a:prstGeom prst="rect">
              <a:avLst/>
            </a:prstGeom>
            <a:solidFill>
              <a:srgbClr val="C0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9554198" y="3023174"/>
              <a:ext cx="1072933" cy="402336"/>
            </a:xfrm>
            <a:prstGeom prst="rect">
              <a:avLst/>
            </a:prstGeom>
            <a:solidFill>
              <a:schemeClr val="bg2">
                <a:lumMod val="75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36199" y="4482360"/>
            <a:ext cx="3771900" cy="2341456"/>
            <a:chOff x="8284805" y="3714280"/>
            <a:chExt cx="3771900" cy="2341456"/>
          </a:xfrm>
        </p:grpSpPr>
        <p:sp>
          <p:nvSpPr>
            <p:cNvPr id="20" name="Cloud 19"/>
            <p:cNvSpPr/>
            <p:nvPr/>
          </p:nvSpPr>
          <p:spPr>
            <a:xfrm>
              <a:off x="8284805" y="3714280"/>
              <a:ext cx="3771900" cy="2341456"/>
            </a:xfrm>
            <a:prstGeom prst="cloud">
              <a:avLst/>
            </a:pr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983734" y="4107389"/>
              <a:ext cx="248834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i="1" dirty="0" smtClean="0"/>
                <a:t>Use the medication-specific queries on the medication survey when our </a:t>
              </a:r>
              <a:r>
                <a:rPr lang="en-US" sz="1600" i="1" u="sng" dirty="0" smtClean="0"/>
                <a:t>previous efforts are unsuccessful</a:t>
              </a:r>
              <a:r>
                <a:rPr lang="en-US" sz="1600" i="1" dirty="0" smtClean="0"/>
                <a:t> in classifying medication use.</a:t>
              </a:r>
              <a:endParaRPr lang="en-US" sz="1600" i="1" dirty="0"/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0593" y="1225282"/>
            <a:ext cx="6519672" cy="3486097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9467316" y="5961504"/>
            <a:ext cx="1072933" cy="402336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828248" y="5179504"/>
            <a:ext cx="457200" cy="40041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147010" y="5571561"/>
            <a:ext cx="457200" cy="40233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267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09590" y="917345"/>
            <a:ext cx="4279392" cy="578443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0656" y="995057"/>
            <a:ext cx="4535424" cy="57309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56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US" sz="2800" dirty="0" smtClean="0"/>
              <a:t>Meds Database + Self-Reported Accountability + Self-Reported Medication Use</a:t>
            </a:r>
            <a:endParaRPr lang="en-US" sz="2400" dirty="0"/>
          </a:p>
        </p:txBody>
      </p:sp>
      <p:sp>
        <p:nvSpPr>
          <p:cNvPr id="31" name="Rectangle 30"/>
          <p:cNvSpPr/>
          <p:nvPr/>
        </p:nvSpPr>
        <p:spPr>
          <a:xfrm>
            <a:off x="1581499" y="2264453"/>
            <a:ext cx="584457" cy="137317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159434" y="3174344"/>
            <a:ext cx="854659" cy="449074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3016365" y="3177110"/>
            <a:ext cx="1231107" cy="457665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2159434" y="2257652"/>
            <a:ext cx="2088038" cy="451365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2162530" y="2715637"/>
            <a:ext cx="2084942" cy="45485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/>
          <p:cNvCxnSpPr/>
          <p:nvPr/>
        </p:nvCxnSpPr>
        <p:spPr>
          <a:xfrm>
            <a:off x="4987991" y="3371850"/>
            <a:ext cx="2549400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776941" y="2981325"/>
            <a:ext cx="24883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missing values</a:t>
            </a:r>
            <a:endParaRPr lang="en-US" sz="1600" b="1" dirty="0"/>
          </a:p>
        </p:txBody>
      </p:sp>
      <p:sp>
        <p:nvSpPr>
          <p:cNvPr id="50" name="Rectangle 49"/>
          <p:cNvSpPr/>
          <p:nvPr/>
        </p:nvSpPr>
        <p:spPr>
          <a:xfrm>
            <a:off x="877280" y="6144023"/>
            <a:ext cx="2853134" cy="1463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877280" y="5988268"/>
            <a:ext cx="2852928" cy="14154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79851" y="6309188"/>
            <a:ext cx="2852928" cy="146304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Arrow Connector 25"/>
          <p:cNvCxnSpPr/>
          <p:nvPr/>
        </p:nvCxnSpPr>
        <p:spPr>
          <a:xfrm>
            <a:off x="2042445" y="2480533"/>
            <a:ext cx="6058968" cy="0"/>
          </a:xfrm>
          <a:prstGeom prst="straightConnector1">
            <a:avLst/>
          </a:prstGeom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764211" y="1902525"/>
            <a:ext cx="24883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/>
              <a:t>Update discordant information</a:t>
            </a:r>
            <a:endParaRPr lang="en-US" sz="1600" b="1" dirty="0"/>
          </a:p>
        </p:txBody>
      </p:sp>
      <p:sp>
        <p:nvSpPr>
          <p:cNvPr id="45" name="Rectangle 44"/>
          <p:cNvSpPr/>
          <p:nvPr/>
        </p:nvSpPr>
        <p:spPr>
          <a:xfrm>
            <a:off x="7912466" y="2283381"/>
            <a:ext cx="584457" cy="1285966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8490401" y="3140251"/>
            <a:ext cx="854659" cy="431103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/>
          <p:cNvSpPr/>
          <p:nvPr/>
        </p:nvSpPr>
        <p:spPr>
          <a:xfrm>
            <a:off x="9347332" y="3143018"/>
            <a:ext cx="1231107" cy="426330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8490401" y="2283381"/>
            <a:ext cx="2088038" cy="432255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8493497" y="2703415"/>
            <a:ext cx="2084942" cy="43298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290978" y="6098886"/>
            <a:ext cx="2853134" cy="14630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7290978" y="5943131"/>
            <a:ext cx="2852928" cy="141549"/>
          </a:xfrm>
          <a:prstGeom prst="rect">
            <a:avLst/>
          </a:prstGeom>
          <a:solidFill>
            <a:srgbClr val="C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7293549" y="6264051"/>
            <a:ext cx="2852928" cy="146304"/>
          </a:xfrm>
          <a:prstGeom prst="rect">
            <a:avLst/>
          </a:pr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4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75000"/>
            <a:alpha val="50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A29ADEEB7C09448951BFD05C7CBA33D" ma:contentTypeVersion="0" ma:contentTypeDescription="Create a new document." ma:contentTypeScope="" ma:versionID="2be537584a7d971519397f10ee201cb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c59ee2edf01cfb808cadb27e045d2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17F3DB5-0C39-4270-9466-38BF8EC77696}"/>
</file>

<file path=customXml/itemProps2.xml><?xml version="1.0" encoding="utf-8"?>
<ds:datastoreItem xmlns:ds="http://schemas.openxmlformats.org/officeDocument/2006/customXml" ds:itemID="{F58BE4B2-5871-4AE0-B1BC-260266F59512}"/>
</file>

<file path=customXml/itemProps3.xml><?xml version="1.0" encoding="utf-8"?>
<ds:datastoreItem xmlns:ds="http://schemas.openxmlformats.org/officeDocument/2006/customXml" ds:itemID="{96D03E0A-6ECD-4F98-8C36-16F16F014C64}"/>
</file>

<file path=docProps/app.xml><?xml version="1.0" encoding="utf-8"?>
<Properties xmlns="http://schemas.openxmlformats.org/officeDocument/2006/extended-properties" xmlns:vt="http://schemas.openxmlformats.org/officeDocument/2006/docPropsVTypes">
  <TotalTime>2872</TotalTime>
  <Words>306</Words>
  <Application>Microsoft Office PowerPoint</Application>
  <PresentationFormat>Widescreen</PresentationFormat>
  <Paragraphs>42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Meds Database + Self-Reported Accountability</vt:lpstr>
      <vt:lpstr>How do these compare to self-reports?</vt:lpstr>
      <vt:lpstr>Meds Database + Self-Reported Accountability + Self-Reported Medication Use</vt:lpstr>
      <vt:lpstr>PowerPoint Presentation</vt:lpstr>
      <vt:lpstr>Meds Database + Self-Reported Accountability</vt:lpstr>
      <vt:lpstr>How do these compare to self-reports?</vt:lpstr>
      <vt:lpstr>Meds Database + Self-Reported Accountability + Self-Reported Medication Use</vt:lpstr>
      <vt:lpstr>PowerPoint Presentation</vt:lpstr>
      <vt:lpstr>Meds Database + Self-Reported Accountability</vt:lpstr>
      <vt:lpstr>How do these compare to self-reports?</vt:lpstr>
      <vt:lpstr>Meds Database + Self-Reported Accountability + Self-Reported Medication Use</vt:lpstr>
    </vt:vector>
  </TitlesOfParts>
  <Company>UMMC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Chad Blackshear</dc:creator>
  <cp:lastModifiedBy>Chad Blackshear</cp:lastModifiedBy>
  <cp:revision>46</cp:revision>
  <dcterms:created xsi:type="dcterms:W3CDTF">2016-06-28T20:52:01Z</dcterms:created>
  <dcterms:modified xsi:type="dcterms:W3CDTF">2016-07-25T15:16:40Z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0x010100FA29ADEEB7C09448951BFD05C7CBA33D</vt:lpwstr>
  </property>
  <property fmtid="{D5CDD505-2E9C-101B-9397-08002B2CF9AE}" pid="3" name="Order">
    <vt:r8>1549500</vt:r8>
  </property>
</Properties>
</file>